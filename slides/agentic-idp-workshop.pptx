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6"/>
  </p:notesMasterIdLst>
  <p:sldIdLst>
    <p:sldId id="309" r:id="rId45"/>
    <p:sldId id="310" r:id="rId46"/>
    <p:sldId id="311" r:id="rId47"/>
    <p:sldId id="312" r:id="rId48"/>
    <p:sldId id="313" r:id="rId49"/>
    <p:sldId id="314" r:id="rId50"/>
    <p:sldId id="315" r:id="rId51"/>
    <p:sldId id="316" r:id="rId52"/>
    <p:sldId id="317" r:id="rId53"/>
    <p:sldId id="318" r:id="rId54"/>
    <p:sldId id="319" r:id="rId55"/>
    <p:sldId id="320" r:id="rId56"/>
    <p:sldId id="321" r:id="rId57"/>
    <p:sldId id="322" r:id="rId58"/>
    <p:sldId id="323" r:id="rId59"/>
    <p:sldId id="324" r:id="rId60"/>
    <p:sldId id="325" r:id="rId61"/>
    <p:sldId id="326" r:id="rId62"/>
    <p:sldId id="327" r:id="rId63"/>
    <p:sldId id="328" r:id="rId64"/>
    <p:sldId id="329" r:id="rId65"/>
    <p:sldId id="330" r:id="rId66"/>
    <p:sldId id="331" r:id="rId67"/>
    <p:sldId id="332" r:id="rId68"/>
    <p:sldId id="333" r:id="rId69"/>
    <p:sldId id="334" r:id="rId70"/>
    <p:sldId id="335" r:id="rId71"/>
    <p:sldId id="336" r:id="rId72"/>
    <p:sldId id="337" r:id="rId73"/>
    <p:sldId id="338" r:id="rId74"/>
    <p:sldId id="339" r:id="rId75"/>
    <p:sldId id="340" r:id="rId76"/>
    <p:sldId id="341" r:id="rId77"/>
    <p:sldId id="342" r:id="rId78"/>
    <p:sldId id="343" r:id="rId79"/>
    <p:sldId id="344" r:id="rId80"/>
    <p:sldId id="345" r:id="rId81"/>
    <p:sldId id="346" r:id="rId82"/>
    <p:sldId id="347" r:id="rId83"/>
    <p:sldId id="348" r:id="rId84"/>
    <p:sldId id="349" r:id="rId85"/>
    <p:sldId id="350" r:id="rId86"/>
    <p:sldId id="351" r:id="rId87"/>
    <p:sldId id="352" r:id="rId88"/>
    <p:sldId id="353" r:id="rId89"/>
    <p:sldId id="354" r:id="rId90"/>
    <p:sldId id="355" r:id="rId91"/>
    <p:sldId id="356" r:id="rId92"/>
    <p:sldId id="357" r:id="rId93"/>
    <p:sldId id="358" r:id="rId94"/>
    <p:sldId id="359" r:id="rId95"/>
  </p:sldIdLst>
  <p:sldSz cx="18288000" cy="10287000"/>
  <p:notesSz cx="6858000" cy="9144000"/>
  <p:embeddedFontLst>
    <p:embeddedFont>
      <p:font typeface="Lexend Deca" panose="020B0604020202020204" charset="0"/>
      <p:regular r:id="rId37"/>
    </p:embeddedFont>
    <p:embeddedFont>
      <p:font typeface="Outfit" panose="020B0604020202020204" charset="0"/>
      <p:regular r:id="rId38"/>
    </p:embeddedFont>
    <p:embeddedFont>
      <p:font typeface="Outfit Bold" panose="020B0604020202020204" charset="0"/>
      <p:regular r:id="rId39"/>
    </p:embeddedFont>
    <p:embeddedFont>
      <p:font typeface="Outfit Semi-Bold" panose="020B0604020202020204" charset="0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6" Type="http://schemas.openxmlformats.org/officeDocument/2006/relationships/notesMaster" Target="notesMasters/notesMaster1.xml"/><Relationship Id="rId37" Type="http://schemas.openxmlformats.org/officeDocument/2006/relationships/font" Target="fonts/font1.fntdata"/><Relationship Id="rId38" Type="http://schemas.openxmlformats.org/officeDocument/2006/relationships/font" Target="fonts/font2.fntdata"/><Relationship Id="rId39" Type="http://schemas.openxmlformats.org/officeDocument/2006/relationships/font" Target="fonts/font3.fntdata"/><Relationship Id="rId40" Type="http://schemas.openxmlformats.org/officeDocument/2006/relationships/font" Target="fonts/font4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286F0-5D44-442A-89D7-9EA0829990CE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3A928-C791-423D-8AB9-F59BCD590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58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svg"/><Relationship Id="rId4" Type="http://schemas.openxmlformats.org/officeDocument/2006/relationships/image" Target="../media/image3.png"/><Relationship Id="rId6" Type="http://schemas.openxmlformats.org/officeDocument/2006/relationships/image" Target="../media/image2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97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svg"/><Relationship Id="rId3" Type="http://schemas.openxmlformats.org/officeDocument/2006/relationships/image" Target="../media/image5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e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e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svg"/><Relationship Id="rId3" Type="http://schemas.openxmlformats.org/officeDocument/2006/relationships/image" Target="../media/image5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F838212F-8A1F-C683-42C3-2ED69E62A216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DDE79C6-8DA5-045F-97EE-CAFCB3462848}"/>
              </a:ext>
            </a:extLst>
          </p:cNvPr>
          <p:cNvGrpSpPr/>
          <p:nvPr/>
        </p:nvGrpSpPr>
        <p:grpSpPr>
          <a:xfrm>
            <a:off x="0" y="2903094"/>
            <a:ext cx="18288000" cy="1110924"/>
            <a:chOff x="0" y="0"/>
            <a:chExt cx="5287621" cy="32120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F667A5B-D7FF-A013-10EB-F450131B3004}"/>
                </a:ext>
              </a:extLst>
            </p:cNvPr>
            <p:cNvSpPr/>
            <p:nvPr/>
          </p:nvSpPr>
          <p:spPr>
            <a:xfrm>
              <a:off x="0" y="0"/>
              <a:ext cx="5287621" cy="321202"/>
            </a:xfrm>
            <a:custGeom>
              <a:avLst/>
              <a:gdLst/>
              <a:ahLst/>
              <a:cxnLst/>
              <a:rect l="l" t="t" r="r" b="b"/>
              <a:pathLst>
                <a:path w="5287621" h="321202">
                  <a:moveTo>
                    <a:pt x="0" y="0"/>
                  </a:moveTo>
                  <a:lnTo>
                    <a:pt x="5287621" y="0"/>
                  </a:lnTo>
                  <a:lnTo>
                    <a:pt x="5287621" y="321202"/>
                  </a:lnTo>
                  <a:lnTo>
                    <a:pt x="0" y="321202"/>
                  </a:ln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F3FF3DF-A3B0-2635-0B3D-4F8DCBDC4D4F}"/>
                </a:ext>
              </a:extLst>
            </p:cNvPr>
            <p:cNvSpPr txBox="1"/>
            <p:nvPr/>
          </p:nvSpPr>
          <p:spPr>
            <a:xfrm>
              <a:off x="0" y="-19050"/>
              <a:ext cx="5287621" cy="3402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endParaRPr dirty="0"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64818A35-F850-8BC4-80EE-7CF068E955D5}"/>
              </a:ext>
            </a:extLst>
          </p:cNvPr>
          <p:cNvSpPr/>
          <p:nvPr/>
        </p:nvSpPr>
        <p:spPr>
          <a:xfrm>
            <a:off x="972949" y="802867"/>
            <a:ext cx="4210171" cy="863085"/>
          </a:xfrm>
          <a:custGeom>
            <a:avLst/>
            <a:gdLst/>
            <a:ahLst/>
            <a:cxnLst/>
            <a:rect l="l" t="t" r="r" b="b"/>
            <a:pathLst>
              <a:path w="4210171" h="863085">
                <a:moveTo>
                  <a:pt x="0" y="0"/>
                </a:moveTo>
                <a:lnTo>
                  <a:pt x="4210172" y="0"/>
                </a:lnTo>
                <a:lnTo>
                  <a:pt x="4210172" y="863085"/>
                </a:lnTo>
                <a:lnTo>
                  <a:pt x="0" y="8630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BDCA74F-C253-3AC6-D1E9-B620098CF0C7}"/>
              </a:ext>
            </a:extLst>
          </p:cNvPr>
          <p:cNvSpPr txBox="1"/>
          <p:nvPr/>
        </p:nvSpPr>
        <p:spPr>
          <a:xfrm>
            <a:off x="972949" y="4411702"/>
            <a:ext cx="16093440" cy="499239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Ship a service, deploy an AI agent on the same platform, and keep it safe, observable, and stoppable. Everything runs on your laptop.</a:t>
            </a:r>
            <a:endParaRPr lang="en-US" sz="3000" dirty="0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88AEF8C-A0C5-80E0-D64A-98108A7283DA}"/>
              </a:ext>
            </a:extLst>
          </p:cNvPr>
          <p:cNvSpPr txBox="1"/>
          <p:nvPr/>
        </p:nvSpPr>
        <p:spPr>
          <a:xfrm>
            <a:off x="972949" y="2936269"/>
            <a:ext cx="1627632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Building Agent-Ready Internal Developer Platforms</a:t>
            </a:r>
            <a:endParaRPr lang="en-US" sz="5000" dirty="0"/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F23C20A-9466-2408-104C-3B6B7016F2EA}"/>
              </a:ext>
            </a:extLst>
          </p:cNvPr>
          <p:cNvSpPr txBox="1"/>
          <p:nvPr/>
        </p:nvSpPr>
        <p:spPr>
          <a:xfrm>
            <a:off x="6291072" y="7249108"/>
            <a:ext cx="109728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Ramiro Álvarez &amp; Guillermo Vigil</a:t>
            </a:r>
            <a:endParaRPr lang="en-US" sz="3600" dirty="0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4B44BE-AF61-BD2F-EF10-2091C68B7AA5}"/>
              </a:ext>
            </a:extLst>
          </p:cNvPr>
          <p:cNvSpPr txBox="1"/>
          <p:nvPr/>
        </p:nvSpPr>
        <p:spPr>
          <a:xfrm>
            <a:off x="1395703" y="856585"/>
            <a:ext cx="336466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599"/>
              </a:lnSpc>
              <a:spcBef>
                <a:spcPct val="0"/>
              </a:spcBef>
            </a:pPr>
            <a:r>
              <a:rPr lang="en-US" sz="3999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Starting Now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55570E2D-C862-28C2-8155-7CE35AD6397B}"/>
              </a:ext>
            </a:extLst>
          </p:cNvPr>
          <p:cNvSpPr txBox="1"/>
          <p:nvPr/>
        </p:nvSpPr>
        <p:spPr>
          <a:xfrm>
            <a:off x="6291072" y="8005392"/>
            <a:ext cx="109728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Instructors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9E2BF91-27A9-150F-6C73-340CF2CA5CAF}"/>
              </a:ext>
            </a:extLst>
          </p:cNvPr>
          <p:cNvSpPr/>
          <p:nvPr/>
        </p:nvSpPr>
        <p:spPr>
          <a:xfrm>
            <a:off x="10565892" y="7938718"/>
            <a:ext cx="6697980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1" y="4479925"/>
            <a:ext cx="15544800" cy="1193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360"/>
              </a:lnSpc>
              <a:spcBef>
                <a:spcPts val="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Building Agent-Ready</a:t>
            </a:r>
            <a:endParaRPr lang="en-US" sz="6400" dirty="0"/>
          </a:p>
          <a:p>
            <a:pPr algn="l">
              <a:lnSpc>
                <a:spcPts val="7360"/>
              </a:lnSpc>
              <a:spcBef>
                <a:spcPts val="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Internal Developer Platforms</a:t>
            </a:r>
            <a:endParaRPr lang="en-US" sz="64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6761480"/>
            <a:ext cx="15544800" cy="896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A hands-on workshop · 140 minutes</a:t>
            </a:r>
            <a:endParaRPr lang="en-US" sz="3600" dirty="0"/>
          </a:p>
        </p:txBody>
      </p:sp>
      <p:sp>
        <p:nvSpPr>
          <p:cNvPr id="5" name="AutoShape 5"/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/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1AA81F84-2D78-7067-E996-43BDCAEACF87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5B9B130-F8D1-289C-66E6-A64112B01F50}"/>
              </a:ext>
            </a:extLst>
          </p:cNvPr>
          <p:cNvGrpSpPr/>
          <p:nvPr/>
        </p:nvGrpSpPr>
        <p:grpSpPr>
          <a:xfrm>
            <a:off x="2514600" y="3395165"/>
            <a:ext cx="2791564" cy="2791564"/>
            <a:chOff x="0" y="0"/>
            <a:chExt cx="812800" cy="8128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A1FDFE-9ECA-22F9-EC97-F07C8A7982D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381B9E1-9036-65F2-9545-BC5B075F26A2}"/>
                </a:ext>
              </a:extLst>
            </p:cNvPr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10997" tIns="10997" rIns="10997" bIns="10997" rtlCol="0" anchor="ctr"/>
            <a:lstStyle/>
            <a:p>
              <a:pPr algn="ctr">
                <a:lnSpc>
                  <a:spcPts val="212"/>
                </a:lnSpc>
                <a:spcBef>
                  <a:spcPct val="0"/>
                </a:spcBef>
              </a:pPr>
              <a:endParaRPr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BD67538-A61A-EF01-0B7F-70035823EA76}"/>
              </a:ext>
            </a:extLst>
          </p:cNvPr>
          <p:cNvGrpSpPr>
            <a:grpSpLocks noChangeAspect="1"/>
          </p:cNvGrpSpPr>
          <p:nvPr/>
        </p:nvGrpSpPr>
        <p:grpSpPr>
          <a:xfrm>
            <a:off x="2689134" y="3553346"/>
            <a:ext cx="2442495" cy="2442485"/>
            <a:chOff x="0" y="0"/>
            <a:chExt cx="6350000" cy="634997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35EA195-CDC4-DEF0-8373-9C04037D769D}"/>
                </a:ext>
              </a:extLst>
            </p:cNvPr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8A9EC0EE-EAD3-A223-0B45-40646F8EBC7F}"/>
              </a:ext>
            </a:extLst>
          </p:cNvPr>
          <p:cNvSpPr txBox="1"/>
          <p:nvPr/>
        </p:nvSpPr>
        <p:spPr>
          <a:xfrm>
            <a:off x="1161288" y="6200273"/>
            <a:ext cx="54864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Ramiro Álvarez</a:t>
            </a:r>
            <a:endParaRPr lang="en-US" sz="3600" dirty="0"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DCEDB19-32D9-0D0F-5518-777CE3D1067C}"/>
              </a:ext>
            </a:extLst>
          </p:cNvPr>
          <p:cNvSpPr txBox="1"/>
          <p:nvPr/>
        </p:nvSpPr>
        <p:spPr>
          <a:xfrm>
            <a:off x="1161288" y="6867993"/>
            <a:ext cx="54864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BD13993-F342-A411-A295-6A7DBFD05D77}"/>
              </a:ext>
            </a:extLst>
          </p:cNvPr>
          <p:cNvSpPr/>
          <p:nvPr/>
        </p:nvSpPr>
        <p:spPr>
          <a:xfrm>
            <a:off x="2170922" y="6831313"/>
            <a:ext cx="3415861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itle 10">
            <a:extLst>
              <a:ext uri="{FF2B5EF4-FFF2-40B4-BE49-F238E27FC236}">
                <a16:creationId xmlns:a16="http://schemas.microsoft.com/office/drawing/2014/main" id="{C115DDE0-6B3D-18AA-AB37-E7D8A14C9C46}"/>
              </a:ext>
            </a:extLst>
          </p:cNvPr>
          <p:cNvSpPr txBox="1">
            <a:spLocks/>
          </p:cNvSpPr>
          <p:nvPr/>
        </p:nvSpPr>
        <p:spPr>
          <a:xfrm>
            <a:off x="8566806" y="2491849"/>
            <a:ext cx="8595360" cy="903316"/>
          </a:xfrm>
          <a:prstGeom prst="rect">
            <a:avLst/>
          </a:prstGeom>
        </p:spPr>
        <p:txBody>
          <a:bodyPr vert="horz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About </a:t>
            </a:r>
            <a:r>
              <a:rPr lang="en-US" sz="44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Ramiro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37273BFE-D528-2975-77E7-7CAFE278CA06}"/>
              </a:ext>
            </a:extLst>
          </p:cNvPr>
          <p:cNvSpPr txBox="1">
            <a:spLocks/>
          </p:cNvSpPr>
          <p:nvPr/>
        </p:nvSpPr>
        <p:spPr>
          <a:xfrm>
            <a:off x="8641280" y="3521284"/>
            <a:ext cx="8618019" cy="32918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3640"/>
              </a:lnSpc>
              <a:spcBef>
                <a:spcPts val="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Platform engineer who builds internal developer platforms on Kubernetes.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Today he leads agent identity and tools, the AI gateway, and observability.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Ask him about LiteLLM, Langfuse, and running models behind a gateway.</a:t>
            </a:r>
            <a:endParaRPr lang="en-US" sz="2600" dirty="0"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7178040"/>
            <a:ext cx="384048" cy="384048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9253728" y="714146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github.com/kaskol10</a:t>
            </a:r>
            <a:endParaRPr lang="en-US" sz="2600" dirty="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1080" y="7818120"/>
            <a:ext cx="384048" cy="384048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9253728" y="778154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linkedin.com/in/ramiroalvfer</a:t>
            </a:r>
            <a:endParaRPr lang="en-US" sz="2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1AA81F84-2D78-7067-E996-43BDCAEACF87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5B9B130-F8D1-289C-66E6-A64112B01F50}"/>
              </a:ext>
            </a:extLst>
          </p:cNvPr>
          <p:cNvGrpSpPr/>
          <p:nvPr/>
        </p:nvGrpSpPr>
        <p:grpSpPr>
          <a:xfrm>
            <a:off x="2514600" y="3395165"/>
            <a:ext cx="2791564" cy="2791564"/>
            <a:chOff x="0" y="0"/>
            <a:chExt cx="812800" cy="8128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A1FDFE-9ECA-22F9-EC97-F07C8A7982D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381B9E1-9036-65F2-9545-BC5B075F26A2}"/>
                </a:ext>
              </a:extLst>
            </p:cNvPr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10997" tIns="10997" rIns="10997" bIns="10997" rtlCol="0" anchor="ctr"/>
            <a:lstStyle/>
            <a:p>
              <a:pPr algn="ctr">
                <a:lnSpc>
                  <a:spcPts val="212"/>
                </a:lnSpc>
                <a:spcBef>
                  <a:spcPct val="0"/>
                </a:spcBef>
              </a:pPr>
              <a:endParaRPr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BD67538-A61A-EF01-0B7F-70035823EA76}"/>
              </a:ext>
            </a:extLst>
          </p:cNvPr>
          <p:cNvGrpSpPr>
            <a:grpSpLocks noChangeAspect="1"/>
          </p:cNvGrpSpPr>
          <p:nvPr/>
        </p:nvGrpSpPr>
        <p:grpSpPr>
          <a:xfrm>
            <a:off x="2689134" y="3553346"/>
            <a:ext cx="2442495" cy="2442485"/>
            <a:chOff x="0" y="0"/>
            <a:chExt cx="6350000" cy="634997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35EA195-CDC4-DEF0-8373-9C04037D769D}"/>
                </a:ext>
              </a:extLst>
            </p:cNvPr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8A9EC0EE-EAD3-A223-0B45-40646F8EBC7F}"/>
              </a:ext>
            </a:extLst>
          </p:cNvPr>
          <p:cNvSpPr txBox="1"/>
          <p:nvPr/>
        </p:nvSpPr>
        <p:spPr>
          <a:xfrm>
            <a:off x="1161288" y="6200273"/>
            <a:ext cx="54864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Guillermo Vigil</a:t>
            </a:r>
            <a:endParaRPr lang="en-US" sz="3600" dirty="0"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DCEDB19-32D9-0D0F-5518-777CE3D1067C}"/>
              </a:ext>
            </a:extLst>
          </p:cNvPr>
          <p:cNvSpPr txBox="1"/>
          <p:nvPr/>
        </p:nvSpPr>
        <p:spPr>
          <a:xfrm>
            <a:off x="1161288" y="6867993"/>
            <a:ext cx="54864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BD13993-F342-A411-A295-6A7DBFD05D77}"/>
              </a:ext>
            </a:extLst>
          </p:cNvPr>
          <p:cNvSpPr/>
          <p:nvPr/>
        </p:nvSpPr>
        <p:spPr>
          <a:xfrm>
            <a:off x="2170922" y="6831313"/>
            <a:ext cx="3415861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itle 10">
            <a:extLst>
              <a:ext uri="{FF2B5EF4-FFF2-40B4-BE49-F238E27FC236}">
                <a16:creationId xmlns:a16="http://schemas.microsoft.com/office/drawing/2014/main" id="{C115DDE0-6B3D-18AA-AB37-E7D8A14C9C46}"/>
              </a:ext>
            </a:extLst>
          </p:cNvPr>
          <p:cNvSpPr txBox="1">
            <a:spLocks/>
          </p:cNvSpPr>
          <p:nvPr/>
        </p:nvSpPr>
        <p:spPr>
          <a:xfrm>
            <a:off x="8566806" y="2491849"/>
            <a:ext cx="8595360" cy="903316"/>
          </a:xfrm>
          <a:prstGeom prst="rect">
            <a:avLst/>
          </a:prstGeom>
        </p:spPr>
        <p:txBody>
          <a:bodyPr vert="horz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About </a:t>
            </a:r>
            <a:r>
              <a:rPr lang="en-US" sz="44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Guillermo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37273BFE-D528-2975-77E7-7CAFE278CA06}"/>
              </a:ext>
            </a:extLst>
          </p:cNvPr>
          <p:cNvSpPr txBox="1">
            <a:spLocks/>
          </p:cNvSpPr>
          <p:nvPr/>
        </p:nvSpPr>
        <p:spPr>
          <a:xfrm>
            <a:off x="8641280" y="3521284"/>
            <a:ext cx="8618019" cy="32918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3640"/>
              </a:lnSpc>
              <a:spcBef>
                <a:spcPts val="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Platform engineer who builds internal developer platforms on Kubernetes.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Today he leads the golden path and the self-documenting knowledge base.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Ask him about GitOps with Argo CD, CI checks that agents can read, and the fork flow.</a:t>
            </a:r>
            <a:endParaRPr lang="en-US" sz="2600" dirty="0"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7178040"/>
            <a:ext cx="384048" cy="384048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9253728" y="714146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github.com/guillermotti</a:t>
            </a:r>
            <a:endParaRPr lang="en-US" sz="2600" dirty="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1080" y="7818120"/>
            <a:ext cx="384048" cy="384048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9253728" y="7781544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linkedin.com/in/guillermotti</a:t>
            </a:r>
            <a:endParaRPr lang="en-US" sz="2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0" y="0"/>
            <a:ext cx="7023487" cy="10287000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2085975"/>
            <a:ext cx="6566557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Agenda</a:t>
            </a:r>
          </a:p>
        </p:txBody>
      </p:sp>
      <p:sp>
        <p:nvSpPr>
          <p:cNvPr id="4" name="AutoShape 4"/>
          <p:cNvSpPr/>
          <p:nvPr/>
        </p:nvSpPr>
        <p:spPr>
          <a:xfrm>
            <a:off x="1028700" y="1828081"/>
            <a:ext cx="514350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AutoShape 5"/>
          <p:cNvSpPr/>
          <p:nvPr/>
        </p:nvSpPr>
        <p:spPr>
          <a:xfrm>
            <a:off x="8184832" y="2628900"/>
            <a:ext cx="88933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AutoShape 6"/>
          <p:cNvSpPr/>
          <p:nvPr/>
        </p:nvSpPr>
        <p:spPr>
          <a:xfrm>
            <a:off x="8184640" y="3517900"/>
            <a:ext cx="89030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Box 7"/>
          <p:cNvSpPr txBox="1"/>
          <p:nvPr/>
        </p:nvSpPr>
        <p:spPr>
          <a:xfrm>
            <a:off x="8315132" y="2667000"/>
            <a:ext cx="351451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62288" y="2818130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Agents as platform users</a:t>
            </a:r>
            <a:endParaRPr lang="en-US" sz="2600" dirty="0"/>
          </a:p>
        </p:txBody>
      </p:sp>
      <p:sp>
        <p:nvSpPr>
          <p:cNvPr id="9" name="AutoShape 9"/>
          <p:cNvSpPr/>
          <p:nvPr/>
        </p:nvSpPr>
        <p:spPr>
          <a:xfrm>
            <a:off x="8184640" y="4445000"/>
            <a:ext cx="896969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Box 10"/>
          <p:cNvSpPr txBox="1"/>
          <p:nvPr/>
        </p:nvSpPr>
        <p:spPr>
          <a:xfrm>
            <a:off x="8315131" y="3613151"/>
            <a:ext cx="389551" cy="413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62288" y="4549775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Knowledge base · Lab 2</a:t>
            </a:r>
            <a:endParaRPr lang="en-US" sz="2600" dirty="0"/>
          </a:p>
        </p:txBody>
      </p:sp>
      <p:sp>
        <p:nvSpPr>
          <p:cNvPr id="12" name="AutoShape 12"/>
          <p:cNvSpPr/>
          <p:nvPr/>
        </p:nvSpPr>
        <p:spPr>
          <a:xfrm>
            <a:off x="8184640" y="5289569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Box 13"/>
          <p:cNvSpPr txBox="1"/>
          <p:nvPr/>
        </p:nvSpPr>
        <p:spPr>
          <a:xfrm>
            <a:off x="8315132" y="4540250"/>
            <a:ext cx="360759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162288" y="547054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Identity, tools, and gateway</a:t>
            </a:r>
            <a:endParaRPr lang="en-US" sz="2600" dirty="0"/>
          </a:p>
        </p:txBody>
      </p:sp>
      <p:sp>
        <p:nvSpPr>
          <p:cNvPr id="15" name="AutoShape 15"/>
          <p:cNvSpPr/>
          <p:nvPr/>
        </p:nvSpPr>
        <p:spPr>
          <a:xfrm>
            <a:off x="8184832" y="6127134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Box 16"/>
          <p:cNvSpPr txBox="1"/>
          <p:nvPr/>
        </p:nvSpPr>
        <p:spPr>
          <a:xfrm>
            <a:off x="8315132" y="5375919"/>
            <a:ext cx="389551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15132" y="6207770"/>
            <a:ext cx="373099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05</a:t>
            </a:r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3345" y="8757648"/>
            <a:ext cx="254098" cy="336585"/>
            <a:chOff x="0" y="0"/>
            <a:chExt cx="508203" cy="6731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08254" cy="673227"/>
            </a:xfrm>
            <a:custGeom>
              <a:avLst/>
              <a:gdLst/>
              <a:ahLst/>
              <a:cxnLst/>
              <a:rect l="l" t="t" r="r" b="b"/>
              <a:pathLst>
                <a:path w="508254" h="673227">
                  <a:moveTo>
                    <a:pt x="508254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8254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660168" y="8757648"/>
            <a:ext cx="1031100" cy="336585"/>
            <a:chOff x="0" y="0"/>
            <a:chExt cx="2062201" cy="67317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62226" cy="673227"/>
            </a:xfrm>
            <a:custGeom>
              <a:avLst/>
              <a:gdLst/>
              <a:ahLst/>
              <a:cxnLst/>
              <a:rect l="l" t="t" r="r" b="b"/>
              <a:pathLst>
                <a:path w="2062226" h="673227">
                  <a:moveTo>
                    <a:pt x="2062226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2062226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2276627" y="8757648"/>
            <a:ext cx="954557" cy="336585"/>
            <a:chOff x="0" y="0"/>
            <a:chExt cx="1909115" cy="67317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09064" cy="673227"/>
            </a:xfrm>
            <a:custGeom>
              <a:avLst/>
              <a:gdLst/>
              <a:ahLst/>
              <a:cxnLst/>
              <a:rect l="l" t="t" r="r" b="b"/>
              <a:pathLst>
                <a:path w="1909064" h="673227">
                  <a:moveTo>
                    <a:pt x="1909064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1909064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3643151" y="8757648"/>
            <a:ext cx="253898" cy="336585"/>
            <a:chOff x="0" y="0"/>
            <a:chExt cx="507797" cy="6731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7746" cy="673227"/>
            </a:xfrm>
            <a:custGeom>
              <a:avLst/>
              <a:gdLst/>
              <a:ahLst/>
              <a:cxnLst/>
              <a:rect l="l" t="t" r="r" b="b"/>
              <a:pathLst>
                <a:path w="507746" h="673227">
                  <a:moveTo>
                    <a:pt x="507746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7746" y="0"/>
                  </a:lnTo>
                  <a:close/>
                </a:path>
              </a:pathLst>
            </a:custGeom>
            <a:solidFill>
              <a:srgbClr val="57B7F7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6" name="Group 26"/>
          <p:cNvGrpSpPr>
            <a:grpSpLocks noChangeAspect="1"/>
          </p:cNvGrpSpPr>
          <p:nvPr/>
        </p:nvGrpSpPr>
        <p:grpSpPr>
          <a:xfrm>
            <a:off x="4478074" y="8757648"/>
            <a:ext cx="254051" cy="336585"/>
            <a:chOff x="0" y="0"/>
            <a:chExt cx="508102" cy="6731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08127" cy="673227"/>
            </a:xfrm>
            <a:custGeom>
              <a:avLst/>
              <a:gdLst/>
              <a:ahLst/>
              <a:cxnLst/>
              <a:rect l="l" t="t" r="r" b="b"/>
              <a:pathLst>
                <a:path w="508127" h="673227">
                  <a:moveTo>
                    <a:pt x="508127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8127" y="0"/>
                  </a:ln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9162288" y="633668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Hermes alert triage · Lab 3</a:t>
            </a:r>
            <a:endParaRPr lang="en-US" sz="2600" dirty="0"/>
          </a:p>
        </p:txBody>
      </p:sp>
      <p:grpSp>
        <p:nvGrpSpPr>
          <p:cNvPr id="29" name="Group 29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30" name="Freeform 30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3" name="AutoShape 33"/>
          <p:cNvSpPr/>
          <p:nvPr/>
        </p:nvSpPr>
        <p:spPr>
          <a:xfrm>
            <a:off x="8184640" y="7055504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extBox 34"/>
          <p:cNvSpPr txBox="1"/>
          <p:nvPr/>
        </p:nvSpPr>
        <p:spPr>
          <a:xfrm>
            <a:off x="8316671" y="7136139"/>
            <a:ext cx="369635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62288" y="7289492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Guardrails · Lab 4</a:t>
            </a:r>
            <a:endParaRPr lang="en-US" sz="2600" dirty="0"/>
          </a:p>
        </p:txBody>
      </p:sp>
      <p:sp>
        <p:nvSpPr>
          <p:cNvPr id="36" name="AutoShape 36"/>
          <p:cNvSpPr/>
          <p:nvPr/>
        </p:nvSpPr>
        <p:spPr>
          <a:xfrm>
            <a:off x="8184832" y="8012449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7" name="TextBox 37"/>
          <p:cNvSpPr txBox="1"/>
          <p:nvPr/>
        </p:nvSpPr>
        <p:spPr>
          <a:xfrm>
            <a:off x="8319245" y="8093084"/>
            <a:ext cx="364872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162288" y="815532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Observability and cost</a:t>
            </a:r>
            <a:endParaRPr lang="en-US" sz="2600" dirty="0"/>
          </a:p>
        </p:txBody>
      </p:sp>
      <p:sp>
        <p:nvSpPr>
          <p:cNvPr id="39" name="TextBox 39"/>
          <p:cNvSpPr txBox="1"/>
          <p:nvPr/>
        </p:nvSpPr>
        <p:spPr>
          <a:xfrm>
            <a:off x="9162288" y="3698875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Golden path · Lab 1</a:t>
            </a:r>
            <a:endParaRPr lang="en-US" sz="2600" dirty="0"/>
          </a:p>
        </p:txBody>
      </p:sp>
      <p:sp>
        <p:nvSpPr>
          <p:cNvPr id="40" name="AutoShape 36">
            <a:extLst>
              <a:ext uri="{FF2B5EF4-FFF2-40B4-BE49-F238E27FC236}">
                <a16:creationId xmlns:a16="http://schemas.microsoft.com/office/drawing/2014/main" id="{31B3D879-4850-9FDF-60B3-E2A184712956}"/>
              </a:ext>
            </a:extLst>
          </p:cNvPr>
          <p:cNvSpPr/>
          <p:nvPr/>
        </p:nvSpPr>
        <p:spPr>
          <a:xfrm>
            <a:off x="8222932" y="8877300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7218FE36-5549-4B6B-0A30-FE5B13C89AAC}"/>
              </a:ext>
            </a:extLst>
          </p:cNvPr>
          <p:cNvSpPr txBox="1"/>
          <p:nvPr/>
        </p:nvSpPr>
        <p:spPr>
          <a:xfrm>
            <a:off x="8305800" y="8953500"/>
            <a:ext cx="398882" cy="413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08</a:t>
            </a:r>
          </a:p>
        </p:txBody>
      </p:sp>
      <p:sp>
        <p:nvSpPr>
          <p:cNvPr id="42" name="TextBox 38">
            <a:extLst>
              <a:ext uri="{FF2B5EF4-FFF2-40B4-BE49-F238E27FC236}">
                <a16:creationId xmlns:a16="http://schemas.microsoft.com/office/drawing/2014/main" id="{3F68A499-B5B5-3810-6992-AAE876A0DB29}"/>
              </a:ext>
            </a:extLst>
          </p:cNvPr>
          <p:cNvSpPr txBox="1"/>
          <p:nvPr/>
        </p:nvSpPr>
        <p:spPr>
          <a:xfrm>
            <a:off x="9162288" y="9015740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Where it breaks · Q&amp;A</a:t>
            </a:r>
            <a:endParaRPr lang="en-US" sz="2600" dirty="0"/>
          </a:p>
        </p:txBody>
      </p:sp>
      <p:sp>
        <p:nvSpPr>
          <p:cNvPr id="43" name="Text 43"/>
          <p:cNvSpPr txBox="1"/>
          <p:nvPr/>
        </p:nvSpPr>
        <p:spPr>
          <a:xfrm>
            <a:off x="15270480" y="281813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44" name="Text 44"/>
          <p:cNvSpPr txBox="1"/>
          <p:nvPr/>
        </p:nvSpPr>
        <p:spPr>
          <a:xfrm>
            <a:off x="15270480" y="3698875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20 min</a:t>
            </a:r>
            <a:endParaRPr lang="en-US" sz="2200" dirty="0"/>
          </a:p>
        </p:txBody>
      </p:sp>
      <p:sp>
        <p:nvSpPr>
          <p:cNvPr id="45" name="Text 45"/>
          <p:cNvSpPr txBox="1"/>
          <p:nvPr/>
        </p:nvSpPr>
        <p:spPr>
          <a:xfrm>
            <a:off x="15270480" y="4549775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15 min</a:t>
            </a:r>
            <a:endParaRPr lang="en-US" sz="2200" dirty="0"/>
          </a:p>
        </p:txBody>
      </p:sp>
      <p:sp>
        <p:nvSpPr>
          <p:cNvPr id="46" name="Text 46"/>
          <p:cNvSpPr txBox="1"/>
          <p:nvPr/>
        </p:nvSpPr>
        <p:spPr>
          <a:xfrm>
            <a:off x="15270480" y="547054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47" name="Text 47"/>
          <p:cNvSpPr txBox="1"/>
          <p:nvPr/>
        </p:nvSpPr>
        <p:spPr>
          <a:xfrm>
            <a:off x="15270480" y="633668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30 min</a:t>
            </a:r>
            <a:endParaRPr lang="en-US" sz="2200" dirty="0"/>
          </a:p>
        </p:txBody>
      </p:sp>
      <p:sp>
        <p:nvSpPr>
          <p:cNvPr id="48" name="Text 48"/>
          <p:cNvSpPr txBox="1"/>
          <p:nvPr/>
        </p:nvSpPr>
        <p:spPr>
          <a:xfrm>
            <a:off x="15270480" y="7289492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30 min</a:t>
            </a:r>
            <a:endParaRPr lang="en-US" sz="2200" dirty="0"/>
          </a:p>
        </p:txBody>
      </p:sp>
      <p:sp>
        <p:nvSpPr>
          <p:cNvPr id="49" name="Text 49"/>
          <p:cNvSpPr txBox="1"/>
          <p:nvPr/>
        </p:nvSpPr>
        <p:spPr>
          <a:xfrm>
            <a:off x="15270480" y="815532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50" name="Text 50"/>
          <p:cNvSpPr txBox="1"/>
          <p:nvPr/>
        </p:nvSpPr>
        <p:spPr>
          <a:xfrm>
            <a:off x="15270480" y="901574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15 min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6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you need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Your machine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Docker with 12 GB of memory (16 recommended) and 4 CPUs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About 25 GB of free disk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 agent harness, for the Lab 2 question and auto-onboarding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Your own fork of the workshop repository, with GitHub Actions enabled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capped OpenRouter key, about $10, that expires after the workshop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0558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Your tools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kind, kubectl, helm, git, jq, envsubst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2.50 or newer, logged in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yq 4.x from mikefarah, not the Python yq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kubeconform and helm-docs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preflight.sh checks all of this and prints one JSON line per check</a:t>
            </a:r>
            <a:endParaRPr lang="en-US" sz="2800" dirty="0"/>
          </a:p>
        </p:txBody>
      </p:sp>
      <p:sp>
        <p:nvSpPr>
          <p:cNvPr id="14" name="AutoShape 14"/>
          <p:cNvSpPr/>
          <p:nvPr/>
        </p:nvSpPr>
        <p:spPr>
          <a:xfrm>
            <a:off x="9163050" y="4024346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Set up your environment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7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Fork the repository on GitHub, then clone your fork and point gh at it: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251200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clone https://github.com/&lt;you&gt;/agentic-idp-packt.git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cd agentic-idp-packt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repo set-default &lt;you&gt;/agentic-idp-packt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export GH_REPO=&lt;you&gt;/agentic-idp-packt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46709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Check your machine, fill in .env, and run the bootstrap: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6203696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./labs/00-setup/local/preflight.sh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cp labs/00-setup/local/.env.example labs/00-setup/local/.env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./labs/00-setup/local/bootstrap.sh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802335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Or let Cursor do it: ask it to follow labs/02-knowledge-base/kb/guides/onboarding.md.</a:t>
            </a:r>
            <a:endParaRPr lang="en-US" sz="2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8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Fill in your .env</a:t>
            </a:r>
            <a:endParaRPr lang="en-US" sz="5000" dirty="0"/>
          </a:p>
        </p:txBody>
      </p:sp>
      <p:sp>
        <p:nvSpPr>
          <p:cNvPr id="76" name="TextBox 76">
            <a:extLst>
              <a:ext uri="{FF2B5EF4-FFF2-40B4-BE49-F238E27FC236}">
                <a16:creationId xmlns:a16="http://schemas.microsoft.com/office/drawing/2014/main" id="{06A20AEA-87DC-D43F-4E67-DF92A4F9BC3D}"/>
              </a:ext>
            </a:extLst>
          </p:cNvPr>
          <p:cNvSpPr txBox="1"/>
          <p:nvPr/>
        </p:nvSpPr>
        <p:spPr>
          <a:xfrm>
            <a:off x="1028700" y="2240280"/>
            <a:ext cx="15544800" cy="721171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Copy .env.example to .env. Never commit .env.</a:t>
            </a:r>
            <a:endParaRPr lang="en-US" sz="26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926080"/>
          <a:ext cx="16230600" cy="5077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1110996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Variable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to put there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REPO_URL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https://github.com/&lt;you&gt;/agentic-idp-packt.git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REPO_WEB_URL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https://github.com/&lt;you&gt;/agentic-idp-packt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OPENROUTER_API_KEY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Your capped provider key. Only the gateway sees it.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63168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GITHUB_TOKEN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Fine-grained token, your fork only: Contents and Pull requests, read and write. The runbook bot uses it in Lab 3.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LITELLM_MASTER_KEY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Leave empty. The bootstrap generates one for the kill switch.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SKIP_LANGFUSE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Leave empty. Set it to true only if your laptop is short on memory.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Check your environment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Code 12"/>
          <p:cNvSpPr/>
          <p:nvPr/>
        </p:nvSpPr>
        <p:spPr>
          <a:xfrm>
            <a:off x="1024128" y="251460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config current-context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    # kind-agentic-idp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get applications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orders and runbooks: Synced, Healthy</a:t>
            </a:r>
            <a:endParaRPr 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1024128" y="3938016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UI is on port 80: http://argocd.localhost, http://langfuse.localhost, http://litellm.localhost, and http://orders.localhost. Log in to Argo CD as admin:</a:t>
            </a:r>
            <a:endParaRPr lang="en-US" sz="2800" dirty="0"/>
          </a:p>
        </p:txBody>
      </p:sp>
      <p:sp>
        <p:nvSpPr>
          <p:cNvPr id="14" name="Code 14"/>
          <p:cNvSpPr/>
          <p:nvPr/>
        </p:nvSpPr>
        <p:spPr>
          <a:xfrm>
            <a:off x="1024128" y="520801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get secret argocd-initial-admin-secret -o jsonpath='{.data.password}' | base64 -d</a:t>
            </a:r>
            <a:endParaRPr lang="en-US" sz="2400" dirty="0"/>
          </a:p>
        </p:txBody>
      </p:sp>
      <p:sp>
        <p:nvSpPr>
          <p:cNvPr id="15" name="Text 15"/>
          <p:cNvSpPr txBox="1"/>
          <p:nvPr/>
        </p:nvSpPr>
        <p:spPr>
          <a:xfrm>
            <a:off x="1024128" y="6235192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Something broken? Reset the cluster. Your fork and pull requests are kept:</a:t>
            </a:r>
            <a:endParaRPr lang="en-US" sz="2800" dirty="0"/>
          </a:p>
        </p:txBody>
      </p:sp>
      <p:sp>
        <p:nvSpPr>
          <p:cNvPr id="16" name="Code 16"/>
          <p:cNvSpPr/>
          <p:nvPr/>
        </p:nvSpPr>
        <p:spPr>
          <a:xfrm>
            <a:off x="1024128" y="7007352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kind delete cluster --name agentic-idp &amp;&amp; ./labs/00-setup/local/bootstrap.sh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10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The platform on your laptop</a:t>
            </a:r>
            <a:endParaRPr lang="en-US" sz="50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468880"/>
          <a:ext cx="16230600" cy="6414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982980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Piece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it does today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kind cluster agentic-idp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Everything runs here, on your laptop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API gateway (ingress-nginx)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 web UI on port 80, at *.localhost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Your fork, Git, and gh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only write path. main is protected by CI checks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Argo CD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Syncs every app from your fork and reverts drift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CI: validate and docs-freshness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JSON errors an agent can read; stale docs fail the PR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Prometheus and Alertmanager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Fire the alert and send it to Hermes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Hermes and k8s-mcp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triage agent and its read-only Kubernetes tools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LiteLLM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AI gateway: one model alias, virtual keys, budgets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runbook-bot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only component with a GitHub token. It only opens PRs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Langfuse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Traces of every model call, with tokens and cost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4543"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Kyverno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25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Policy at admission time, the second layer after RBAC</a:t>
                      </a:r>
                      <a:endParaRPr lang="en-US" sz="21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the pieces connect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Box 12"/>
          <p:cNvSpPr/>
          <p:nvPr/>
        </p:nvSpPr>
        <p:spPr>
          <a:xfrm>
            <a:off x="4297680" y="2331720"/>
            <a:ext cx="12966192" cy="6720840"/>
          </a:xfrm>
          <a:prstGeom prst="rect">
            <a:avLst>
              <a:gd name="adj" fmla="val 10000"/>
            </a:avLst>
          </a:prstGeom>
          <a:noFill/>
          <a:ln w="19050">
            <a:solidFill>
              <a:srgbClr val="595959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endParaRPr lang="en-US" sz="2200" dirty="0"/>
          </a:p>
        </p:txBody>
      </p:sp>
      <p:sp>
        <p:nvSpPr>
          <p:cNvPr id="13" name="Text 13"/>
          <p:cNvSpPr txBox="1"/>
          <p:nvPr/>
        </p:nvSpPr>
        <p:spPr>
          <a:xfrm>
            <a:off x="4526280" y="239572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buNone/>
            </a:pPr>
            <a:r>
              <a:rPr lang="en-US" sz="1800" b="1" dirty="0">
                <a:solidFill>
                  <a:srgbClr val="595959"/>
                </a:solidFill>
                <a:latin typeface="Outfit Bold"/>
                <a:ea typeface="Outfit Bold"/>
                <a:cs typeface="Outfit Bold"/>
                <a:sym typeface="Outfit Bold"/>
              </a:rPr>
              <a:t>kind cluster: agentic-idp</a:t>
            </a:r>
            <a:endParaRPr lang="en-US" sz="1800" dirty="0"/>
          </a:p>
        </p:txBody>
      </p:sp>
      <p:sp>
        <p:nvSpPr>
          <p:cNvPr id="14" name="Box 14"/>
          <p:cNvSpPr/>
          <p:nvPr/>
        </p:nvSpPr>
        <p:spPr>
          <a:xfrm>
            <a:off x="4526280" y="2834640"/>
            <a:ext cx="12508992" cy="8686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en-US" sz="20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API gateway (ingress-nginx)</a:t>
            </a:r>
            <a:endParaRPr lang="en-US" sz="20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argocd · langfuse · litellm · orders, at *.localhost on port 80</a:t>
            </a:r>
            <a:endParaRPr lang="en-US" sz="1700" dirty="0"/>
          </a:p>
        </p:txBody>
      </p:sp>
      <p:sp>
        <p:nvSpPr>
          <p:cNvPr id="15" name="Box 15"/>
          <p:cNvSpPr/>
          <p:nvPr/>
        </p:nvSpPr>
        <p:spPr>
          <a:xfrm>
            <a:off x="1024128" y="2834640"/>
            <a:ext cx="28346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</a:t>
            </a:r>
            <a:endParaRPr lang="en-US" sz="20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and an agent harness</a:t>
            </a:r>
            <a:endParaRPr lang="en-US" sz="1700" dirty="0"/>
          </a:p>
        </p:txBody>
      </p:sp>
      <p:sp>
        <p:nvSpPr>
          <p:cNvPr id="16" name="Box 16"/>
          <p:cNvSpPr/>
          <p:nvPr/>
        </p:nvSpPr>
        <p:spPr>
          <a:xfrm>
            <a:off x="1024128" y="4069080"/>
            <a:ext cx="2834640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GitHub: your fork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CI checks protect main. Argo CD polls it; runbook-bot opens PRs on it.</a:t>
            </a:r>
            <a:endParaRPr lang="en-US" sz="1700" dirty="0"/>
          </a:p>
        </p:txBody>
      </p:sp>
      <p:sp>
        <p:nvSpPr>
          <p:cNvPr id="17" name="Box 17"/>
          <p:cNvSpPr/>
          <p:nvPr/>
        </p:nvSpPr>
        <p:spPr>
          <a:xfrm>
            <a:off x="1024128" y="7360920"/>
            <a:ext cx="2834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OpenRouter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model provider</a:t>
            </a:r>
            <a:endParaRPr lang="en-US" sz="1700" dirty="0"/>
          </a:p>
        </p:txBody>
      </p:sp>
      <p:sp>
        <p:nvSpPr>
          <p:cNvPr id="18" name="Box 18"/>
          <p:cNvSpPr/>
          <p:nvPr/>
        </p:nvSpPr>
        <p:spPr>
          <a:xfrm>
            <a:off x="4526280" y="406908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Argo CD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syncs every app from your fork</a:t>
            </a:r>
            <a:endParaRPr lang="en-US" sz="1700" dirty="0"/>
          </a:p>
        </p:txBody>
      </p:sp>
      <p:sp>
        <p:nvSpPr>
          <p:cNvPr id="19" name="Box 19"/>
          <p:cNvSpPr/>
          <p:nvPr/>
        </p:nvSpPr>
        <p:spPr>
          <a:xfrm>
            <a:off x="7813548" y="406908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Prometheus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and Alertmanager fire the alert</a:t>
            </a:r>
            <a:endParaRPr lang="en-US" sz="1700" dirty="0"/>
          </a:p>
        </p:txBody>
      </p:sp>
      <p:sp>
        <p:nvSpPr>
          <p:cNvPr id="20" name="Box 20"/>
          <p:cNvSpPr/>
          <p:nvPr/>
        </p:nvSpPr>
        <p:spPr>
          <a:xfrm>
            <a:off x="11100816" y="406908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orders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service, in shop</a:t>
            </a:r>
            <a:endParaRPr lang="en-US" sz="1700" dirty="0"/>
          </a:p>
        </p:txBody>
      </p:sp>
      <p:sp>
        <p:nvSpPr>
          <p:cNvPr id="21" name="Box 21"/>
          <p:cNvSpPr/>
          <p:nvPr/>
        </p:nvSpPr>
        <p:spPr>
          <a:xfrm>
            <a:off x="14388084" y="4069080"/>
            <a:ext cx="2647188" cy="292608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Kyverno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admission policy: agent identities cannot write</a:t>
            </a:r>
            <a:endParaRPr lang="en-US" sz="1700" dirty="0"/>
          </a:p>
        </p:txBody>
      </p:sp>
      <p:sp>
        <p:nvSpPr>
          <p:cNvPr id="22" name="Box 22"/>
          <p:cNvSpPr/>
          <p:nvPr/>
        </p:nvSpPr>
        <p:spPr>
          <a:xfrm>
            <a:off x="4526280" y="571500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00CD8F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runbook-bot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only GitHub token</a:t>
            </a:r>
            <a:endParaRPr lang="en-US" sz="1700" dirty="0"/>
          </a:p>
        </p:txBody>
      </p:sp>
      <p:sp>
        <p:nvSpPr>
          <p:cNvPr id="23" name="Box 23"/>
          <p:cNvSpPr/>
          <p:nvPr/>
        </p:nvSpPr>
        <p:spPr>
          <a:xfrm>
            <a:off x="7813548" y="571500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00CD8F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triage agent</a:t>
            </a:r>
            <a:endParaRPr lang="en-US" sz="1700" dirty="0"/>
          </a:p>
        </p:txBody>
      </p:sp>
      <p:sp>
        <p:nvSpPr>
          <p:cNvPr id="24" name="Box 24"/>
          <p:cNvSpPr/>
          <p:nvPr/>
        </p:nvSpPr>
        <p:spPr>
          <a:xfrm>
            <a:off x="11100816" y="571500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00CD8F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k8s-mcp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read-only Kubernetes tools</a:t>
            </a:r>
            <a:endParaRPr lang="en-US" sz="1700" dirty="0"/>
          </a:p>
        </p:txBody>
      </p:sp>
      <p:sp>
        <p:nvSpPr>
          <p:cNvPr id="25" name="Box 25"/>
          <p:cNvSpPr/>
          <p:nvPr/>
        </p:nvSpPr>
        <p:spPr>
          <a:xfrm>
            <a:off x="7813548" y="736092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LiteLLM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AI gateway: keys and budgets</a:t>
            </a:r>
            <a:endParaRPr lang="en-US" sz="1700" dirty="0"/>
          </a:p>
        </p:txBody>
      </p:sp>
      <p:sp>
        <p:nvSpPr>
          <p:cNvPr id="26" name="Box 26"/>
          <p:cNvSpPr/>
          <p:nvPr/>
        </p:nvSpPr>
        <p:spPr>
          <a:xfrm>
            <a:off x="11100816" y="7360920"/>
            <a:ext cx="2647188" cy="1280160"/>
          </a:xfrm>
          <a:prstGeom prst="roundRect">
            <a:avLst>
              <a:gd name="adj" fmla="val 10000"/>
            </a:avLst>
          </a:prstGeom>
          <a:solidFill>
            <a:srgbClr val="E1E1E1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Langfuse</a:t>
            </a:r>
            <a:endParaRPr lang="en-US" sz="2200" dirty="0"/>
          </a:p>
          <a:p>
            <a:pPr algn="ctr">
              <a:lnSpc>
                <a:spcPts val="2040"/>
              </a:lnSpc>
              <a:spcBef>
                <a:spcPts val="200"/>
              </a:spcBef>
              <a:buNone/>
            </a:pPr>
            <a:r>
              <a:rPr lang="en-US" sz="17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traces, tokens, and cost</a:t>
            </a:r>
            <a:endParaRPr lang="en-US" sz="1700" dirty="0"/>
          </a:p>
        </p:txBody>
      </p:sp>
      <p:sp>
        <p:nvSpPr>
          <p:cNvPr id="27" name="Text 27"/>
          <p:cNvSpPr txBox="1"/>
          <p:nvPr/>
        </p:nvSpPr>
        <p:spPr>
          <a:xfrm>
            <a:off x="14388084" y="7589520"/>
            <a:ext cx="2647188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380"/>
              </a:lnSpc>
              <a:spcBef>
                <a:spcPts val="0"/>
              </a:spcBef>
              <a:buNone/>
            </a:pPr>
            <a:r>
              <a:rPr lang="en-US" sz="17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Green: the agent and its helpers, in the agents namespace.</a:t>
            </a:r>
            <a:endParaRPr lang="en-US" sz="1700" dirty="0"/>
          </a:p>
        </p:txBody>
      </p:sp>
      <p:cxnSp>
        <p:nvCxnSpPr>
          <p:cNvPr id="28" name="Arrow 28"/>
          <p:cNvCxnSpPr/>
          <p:nvPr/>
        </p:nvCxnSpPr>
        <p:spPr>
          <a:xfrm>
            <a:off x="3858768" y="3268980"/>
            <a:ext cx="667512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29" name="Arrow 29"/>
          <p:cNvCxnSpPr/>
          <p:nvPr/>
        </p:nvCxnSpPr>
        <p:spPr>
          <a:xfrm>
            <a:off x="3858768" y="4709160"/>
            <a:ext cx="667512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30" name="Arrow 30"/>
          <p:cNvCxnSpPr/>
          <p:nvPr/>
        </p:nvCxnSpPr>
        <p:spPr>
          <a:xfrm flipH="1">
            <a:off x="3858768" y="6355080"/>
            <a:ext cx="667512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31" name="Arrow 31"/>
          <p:cNvCxnSpPr/>
          <p:nvPr/>
        </p:nvCxnSpPr>
        <p:spPr>
          <a:xfrm>
            <a:off x="9137142" y="5349240"/>
            <a:ext cx="0" cy="36576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2" name="Text 32"/>
          <p:cNvSpPr txBox="1"/>
          <p:nvPr/>
        </p:nvSpPr>
        <p:spPr>
          <a:xfrm>
            <a:off x="9246870" y="53675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alert</a:t>
            </a:r>
            <a:endParaRPr lang="en-US" sz="1600" dirty="0"/>
          </a:p>
        </p:txBody>
      </p:sp>
      <p:cxnSp>
        <p:nvCxnSpPr>
          <p:cNvPr id="33" name="Arrow 33"/>
          <p:cNvCxnSpPr/>
          <p:nvPr/>
        </p:nvCxnSpPr>
        <p:spPr>
          <a:xfrm flipH="1">
            <a:off x="7173468" y="6355080"/>
            <a:ext cx="6400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4" name="Text 34"/>
          <p:cNvSpPr txBox="1"/>
          <p:nvPr/>
        </p:nvSpPr>
        <p:spPr>
          <a:xfrm>
            <a:off x="7200900" y="59436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report</a:t>
            </a:r>
            <a:endParaRPr lang="en-US" sz="1600" dirty="0"/>
          </a:p>
        </p:txBody>
      </p:sp>
      <p:cxnSp>
        <p:nvCxnSpPr>
          <p:cNvPr id="35" name="Arrow 35"/>
          <p:cNvCxnSpPr/>
          <p:nvPr/>
        </p:nvCxnSpPr>
        <p:spPr>
          <a:xfrm>
            <a:off x="10460736" y="6355080"/>
            <a:ext cx="6400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6" name="Text 36"/>
          <p:cNvSpPr txBox="1"/>
          <p:nvPr/>
        </p:nvSpPr>
        <p:spPr>
          <a:xfrm>
            <a:off x="10570464" y="59436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MCP</a:t>
            </a:r>
            <a:endParaRPr lang="en-US" sz="1600" dirty="0"/>
          </a:p>
        </p:txBody>
      </p:sp>
      <p:cxnSp>
        <p:nvCxnSpPr>
          <p:cNvPr id="37" name="Arrow 37"/>
          <p:cNvCxnSpPr/>
          <p:nvPr/>
        </p:nvCxnSpPr>
        <p:spPr>
          <a:xfrm flipV="1">
            <a:off x="12424410" y="5349240"/>
            <a:ext cx="0" cy="36576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38" name="Text 38"/>
          <p:cNvSpPr txBox="1"/>
          <p:nvPr/>
        </p:nvSpPr>
        <p:spPr>
          <a:xfrm>
            <a:off x="12534138" y="53675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reads</a:t>
            </a:r>
            <a:endParaRPr lang="en-US" sz="1600" dirty="0"/>
          </a:p>
        </p:txBody>
      </p:sp>
      <p:cxnSp>
        <p:nvCxnSpPr>
          <p:cNvPr id="39" name="Arrow 39"/>
          <p:cNvCxnSpPr/>
          <p:nvPr/>
        </p:nvCxnSpPr>
        <p:spPr>
          <a:xfrm>
            <a:off x="9137142" y="6995160"/>
            <a:ext cx="0" cy="36576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40" name="Text 40"/>
          <p:cNvSpPr txBox="1"/>
          <p:nvPr/>
        </p:nvSpPr>
        <p:spPr>
          <a:xfrm>
            <a:off x="9246870" y="70134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virtual key</a:t>
            </a:r>
            <a:endParaRPr lang="en-US" sz="1600" dirty="0"/>
          </a:p>
        </p:txBody>
      </p:sp>
      <p:cxnSp>
        <p:nvCxnSpPr>
          <p:cNvPr id="41" name="Arrow 41"/>
          <p:cNvCxnSpPr/>
          <p:nvPr/>
        </p:nvCxnSpPr>
        <p:spPr>
          <a:xfrm>
            <a:off x="10460736" y="8001000"/>
            <a:ext cx="6400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42" name="Text 42"/>
          <p:cNvSpPr txBox="1"/>
          <p:nvPr/>
        </p:nvSpPr>
        <p:spPr>
          <a:xfrm>
            <a:off x="10488168" y="75895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traces</a:t>
            </a:r>
            <a:endParaRPr lang="en-US" sz="1600" dirty="0"/>
          </a:p>
        </p:txBody>
      </p:sp>
      <p:cxnSp>
        <p:nvCxnSpPr>
          <p:cNvPr id="43" name="Arrow 43"/>
          <p:cNvCxnSpPr/>
          <p:nvPr/>
        </p:nvCxnSpPr>
        <p:spPr>
          <a:xfrm flipH="1">
            <a:off x="3858768" y="8001000"/>
            <a:ext cx="395478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sp>
        <p:nvSpPr>
          <p:cNvPr id="44" name="Text 44"/>
          <p:cNvSpPr txBox="1"/>
          <p:nvPr/>
        </p:nvSpPr>
        <p:spPr>
          <a:xfrm>
            <a:off x="4800600" y="76352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6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provider key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4128" y="1461010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the labs fit together</a:t>
            </a:r>
            <a:endParaRPr lang="en-US" sz="5000" dirty="0"/>
          </a:p>
        </p:txBody>
      </p:sp>
      <p:sp>
        <p:nvSpPr>
          <p:cNvPr id="5" name="TextBox 5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6705" y="9549448"/>
            <a:ext cx="1463040" cy="4189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12</a:t>
            </a:r>
            <a:endParaRPr lang="en-US" sz="2400" dirty="0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8" name="Freeform 8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699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AutoShape 12"/>
          <p:cNvSpPr/>
          <p:nvPr/>
        </p:nvSpPr>
        <p:spPr>
          <a:xfrm>
            <a:off x="3200011" y="5148517"/>
            <a:ext cx="1284917" cy="0"/>
          </a:xfrm>
          <a:prstGeom prst="line">
            <a:avLst/>
          </a:prstGeom>
          <a:ln w="57150" cap="flat">
            <a:solidFill>
              <a:srgbClr val="86EA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5867039" y="5148517"/>
            <a:ext cx="1260757" cy="0"/>
          </a:xfrm>
          <a:prstGeom prst="line">
            <a:avLst/>
          </a:prstGeom>
          <a:ln w="57150" cap="flat">
            <a:solidFill>
              <a:srgbClr val="3EDAD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509907" y="5148517"/>
            <a:ext cx="1285875" cy="0"/>
          </a:xfrm>
          <a:prstGeom prst="line">
            <a:avLst/>
          </a:prstGeom>
          <a:ln w="57150" cap="flat">
            <a:solidFill>
              <a:srgbClr val="18AF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11177893" y="5148517"/>
            <a:ext cx="1201605" cy="0"/>
          </a:xfrm>
          <a:prstGeom prst="line">
            <a:avLst/>
          </a:prstGeom>
          <a:ln w="57150" cap="flat">
            <a:solidFill>
              <a:srgbClr val="1C88C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761610" y="5148517"/>
            <a:ext cx="1317078" cy="0"/>
          </a:xfrm>
          <a:prstGeom prst="line">
            <a:avLst/>
          </a:prstGeom>
          <a:ln w="57150" cap="flat">
            <a:solidFill>
              <a:srgbClr val="1353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817900" y="4457462"/>
            <a:ext cx="1382111" cy="1382111"/>
            <a:chOff x="0" y="0"/>
            <a:chExt cx="1842815" cy="1842815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86EAE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1</a:t>
                </a:r>
                <a:endParaRPr lang="en-US" sz="3200" dirty="0"/>
              </a:p>
            </p:txBody>
          </p:sp>
        </p:grpSp>
      </p:grpSp>
      <p:grpSp>
        <p:nvGrpSpPr>
          <p:cNvPr id="23" name="Group 23"/>
          <p:cNvGrpSpPr/>
          <p:nvPr/>
        </p:nvGrpSpPr>
        <p:grpSpPr>
          <a:xfrm>
            <a:off x="4484928" y="4457462"/>
            <a:ext cx="1382111" cy="1382111"/>
            <a:chOff x="0" y="0"/>
            <a:chExt cx="1842815" cy="1842815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EDAD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2</a:t>
                </a:r>
                <a:endParaRPr lang="en-US" sz="3200" dirty="0"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7127796" y="4457462"/>
            <a:ext cx="1382111" cy="1382111"/>
            <a:chOff x="0" y="0"/>
            <a:chExt cx="1842815" cy="184281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7C9E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3</a:t>
                </a:r>
                <a:endParaRPr lang="en-US" sz="3200" dirty="0"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9795782" y="4457462"/>
            <a:ext cx="1382111" cy="1382111"/>
            <a:chOff x="0" y="0"/>
            <a:chExt cx="1842815" cy="1842815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8AFD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4</a:t>
                </a:r>
                <a:endParaRPr lang="en-US" sz="3200" dirty="0"/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2379498" y="4457462"/>
            <a:ext cx="1382111" cy="1382111"/>
            <a:chOff x="0" y="0"/>
            <a:chExt cx="1842815" cy="1842815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C88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5</a:t>
                </a:r>
                <a:endParaRPr lang="en-US" sz="3200" dirty="0"/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15078687" y="4457462"/>
            <a:ext cx="1382111" cy="1382111"/>
            <a:chOff x="0" y="0"/>
            <a:chExt cx="1842815" cy="1842815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3538A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6</a:t>
                </a:r>
                <a:endParaRPr lang="en-US" sz="3200" dirty="0"/>
              </a:p>
            </p:txBody>
          </p:sp>
        </p:grpSp>
      </p:grpSp>
      <p:sp>
        <p:nvSpPr>
          <p:cNvPr id="48" name="TextBox 48"/>
          <p:cNvSpPr txBox="1"/>
          <p:nvPr/>
        </p:nvSpPr>
        <p:spPr>
          <a:xfrm>
            <a:off x="1268496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Fork, bootstrap, and check your cluster</a:t>
            </a:r>
            <a:endParaRPr lang="en-US" sz="2100" dirty="0"/>
          </a:p>
        </p:txBody>
      </p:sp>
      <p:sp>
        <p:nvSpPr>
          <p:cNvPr id="49" name="TextBox 49"/>
          <p:cNvSpPr txBox="1"/>
          <p:nvPr/>
        </p:nvSpPr>
        <p:spPr>
          <a:xfrm>
            <a:off x="1314216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Setup</a:t>
            </a:r>
            <a:endParaRPr lang="en-US" sz="2200" dirty="0"/>
          </a:p>
        </p:txBody>
      </p:sp>
      <p:sp>
        <p:nvSpPr>
          <p:cNvPr id="50" name="TextBox 50"/>
          <p:cNvSpPr txBox="1"/>
          <p:nvPr/>
        </p:nvSpPr>
        <p:spPr>
          <a:xfrm>
            <a:off x="3905180" y="6230987"/>
            <a:ext cx="2526749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Ship orders through the golden path</a:t>
            </a:r>
            <a:endParaRPr lang="en-US" sz="2100" dirty="0"/>
          </a:p>
        </p:txBody>
      </p:sp>
      <p:sp>
        <p:nvSpPr>
          <p:cNvPr id="51" name="TextBox 51"/>
          <p:cNvSpPr txBox="1"/>
          <p:nvPr/>
        </p:nvSpPr>
        <p:spPr>
          <a:xfrm>
            <a:off x="3964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1</a:t>
            </a:r>
            <a:endParaRPr lang="en-US" sz="2200" dirty="0"/>
          </a:p>
        </p:txBody>
      </p:sp>
      <p:sp>
        <p:nvSpPr>
          <p:cNvPr id="52" name="TextBox 52"/>
          <p:cNvSpPr txBox="1"/>
          <p:nvPr/>
        </p:nvSpPr>
        <p:spPr>
          <a:xfrm>
            <a:off x="6569090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Generate docs that cannot go stale</a:t>
            </a:r>
            <a:endParaRPr lang="en-US" sz="2100" dirty="0"/>
          </a:p>
        </p:txBody>
      </p:sp>
      <p:sp>
        <p:nvSpPr>
          <p:cNvPr id="53" name="TextBox 53"/>
          <p:cNvSpPr txBox="1"/>
          <p:nvPr/>
        </p:nvSpPr>
        <p:spPr>
          <a:xfrm>
            <a:off x="6614810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2</a:t>
            </a:r>
            <a:endParaRPr lang="en-US" sz="2200" dirty="0"/>
          </a:p>
        </p:txBody>
      </p:sp>
      <p:sp>
        <p:nvSpPr>
          <p:cNvPr id="54" name="TextBox 54"/>
          <p:cNvSpPr txBox="1"/>
          <p:nvPr/>
        </p:nvSpPr>
        <p:spPr>
          <a:xfrm>
            <a:off x="9237077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Deploy Hermes and let it triage orders</a:t>
            </a:r>
            <a:endParaRPr lang="en-US" sz="2100" dirty="0"/>
          </a:p>
        </p:txBody>
      </p:sp>
      <p:sp>
        <p:nvSpPr>
          <p:cNvPr id="55" name="TextBox 55"/>
          <p:cNvSpPr txBox="1"/>
          <p:nvPr/>
        </p:nvSpPr>
        <p:spPr>
          <a:xfrm>
            <a:off x="9265107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3</a:t>
            </a:r>
            <a:endParaRPr lang="en-US" sz="2200" dirty="0"/>
          </a:p>
        </p:txBody>
      </p:sp>
      <p:sp>
        <p:nvSpPr>
          <p:cNvPr id="56" name="TextBox 56"/>
          <p:cNvSpPr txBox="1"/>
          <p:nvPr/>
        </p:nvSpPr>
        <p:spPr>
          <a:xfrm>
            <a:off x="11796347" y="6230098"/>
            <a:ext cx="2548414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Test the guardrails, then stop Hermes</a:t>
            </a:r>
            <a:endParaRPr lang="en-US" sz="2100" dirty="0"/>
          </a:p>
        </p:txBody>
      </p:sp>
      <p:sp>
        <p:nvSpPr>
          <p:cNvPr id="57" name="TextBox 57"/>
          <p:cNvSpPr txBox="1"/>
          <p:nvPr/>
        </p:nvSpPr>
        <p:spPr>
          <a:xfrm>
            <a:off x="11866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4</a:t>
            </a:r>
            <a:endParaRPr lang="en-US" sz="2200" dirty="0"/>
          </a:p>
        </p:txBody>
      </p:sp>
      <p:sp>
        <p:nvSpPr>
          <p:cNvPr id="58" name="TextBox 58"/>
          <p:cNvSpPr txBox="1"/>
          <p:nvPr/>
        </p:nvSpPr>
        <p:spPr>
          <a:xfrm>
            <a:off x="14519982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Read the traces and see where it breaks</a:t>
            </a:r>
            <a:endParaRPr lang="en-US" sz="2100" dirty="0"/>
          </a:p>
        </p:txBody>
      </p:sp>
      <p:sp>
        <p:nvSpPr>
          <p:cNvPr id="59" name="TextBox 59"/>
          <p:cNvSpPr txBox="1"/>
          <p:nvPr/>
        </p:nvSpPr>
        <p:spPr>
          <a:xfrm>
            <a:off x="14565702" y="3621167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Close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01: Agents as platform users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1028700" y="1028700"/>
            <a:ext cx="2244349" cy="1629958"/>
          </a:xfrm>
          <a:custGeom>
            <a:avLst/>
            <a:gdLst/>
            <a:ahLst/>
            <a:cxnLst/>
            <a:rect l="l" t="t" r="r" b="b"/>
            <a:pathLst>
              <a:path w="2244349" h="1629958">
                <a:moveTo>
                  <a:pt x="0" y="0"/>
                </a:moveTo>
                <a:lnTo>
                  <a:pt x="2244349" y="0"/>
                </a:lnTo>
                <a:lnTo>
                  <a:pt x="2244349" y="1629958"/>
                </a:lnTo>
                <a:lnTo>
                  <a:pt x="0" y="16299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3291840"/>
            <a:ext cx="14630400" cy="18351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6440"/>
              </a:lnSpc>
              <a:spcBef>
                <a:spcPts val="0"/>
              </a:spcBef>
              <a:buNone/>
            </a:pPr>
            <a:r>
              <a:rPr lang="en-US" sz="56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What changes when AI agents become users of the platform, alongside engineers?</a:t>
            </a:r>
            <a:endParaRPr lang="en-US" sz="56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8787765"/>
            <a:ext cx="14630400" cy="47053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- The question behind every section today</a:t>
            </a:r>
            <a:endParaRPr lang="en-US" sz="3000" dirty="0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6" name="Freeform 6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15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01 · Agents as platform users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Agent-ready means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Understand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Docs and context agents can trust: generated from the platform and checked in CI.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Act safely in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Its own identity, read-only tools, Git as the only write path, and policy as a second layer.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Observe and stop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model call traced, every change in Git, and a kill switch that GitOps cannot undo.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9165383" y="9277350"/>
            <a:ext cx="809391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AutoShape 8"/>
          <p:cNvSpPr/>
          <p:nvPr/>
        </p:nvSpPr>
        <p:spPr>
          <a:xfrm flipH="1">
            <a:off x="11974483" y="2581116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0" y="2562066"/>
            <a:ext cx="9144000" cy="7724934"/>
          </a:xfrm>
          <a:custGeom>
            <a:avLst/>
            <a:gdLst/>
            <a:ahLst/>
            <a:cxnLst/>
            <a:rect l="l" t="t" r="r" b="b"/>
            <a:pathLst>
              <a:path w="9144000" h="7724934">
                <a:moveTo>
                  <a:pt x="0" y="0"/>
                </a:moveTo>
                <a:lnTo>
                  <a:pt x="9144000" y="0"/>
                </a:lnTo>
                <a:lnTo>
                  <a:pt x="9144000" y="7724934"/>
                </a:lnTo>
                <a:lnTo>
                  <a:pt x="0" y="7724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128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Pg: 16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01 · Agents as platform users</a:t>
            </a:r>
            <a:endParaRPr lang="en-US" sz="2400" dirty="0"/>
          </a:p>
        </p:txBody>
      </p:sp>
      <p:sp>
        <p:nvSpPr>
          <p:cNvPr id="13" name="TextBox 13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One service, one agent</a:t>
            </a:r>
            <a:endParaRPr lang="en-US" sz="5000" dirty="0"/>
          </a:p>
        </p:txBody>
      </p:sp>
      <p:sp>
        <p:nvSpPr>
          <p:cNvPr id="14" name="TextBox 14"/>
          <p:cNvSpPr txBox="1"/>
          <p:nvPr/>
        </p:nvSpPr>
        <p:spPr>
          <a:xfrm>
            <a:off x="1104305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orders, in the shop namespace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The service everyone ships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1 deploys it through the golden path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2 documents it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3 breaks it on purpose</a:t>
            </a:r>
            <a:endParaRPr lang="en-US" sz="28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05580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Hermes, in the agents namespace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agent that triages alerts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Lab 3 deploys it the same way as orders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Lab 4 tests its guardrails and stops it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 never holds a cluster or GitHub token</a:t>
            </a:r>
            <a:endParaRPr lang="en-US" sz="2800" dirty="0"/>
          </a:p>
        </p:txBody>
      </p:sp>
      <p:sp>
        <p:nvSpPr>
          <p:cNvPr id="16" name="AutoShape 16"/>
          <p:cNvSpPr/>
          <p:nvPr/>
        </p:nvSpPr>
        <p:spPr>
          <a:xfrm>
            <a:off x="1028700" y="9248775"/>
            <a:ext cx="8115300" cy="95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02: The golden path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57073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1 · 20 minutes</a:t>
            </a:r>
            <a:endParaRPr lang="en-US" sz="2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18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changes for agents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Repositories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One folder per app with a fixed shape. An agent can scaffold it correctly every time.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CI/CD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Validation prints one JSON line per app with a clear error, not a wall of logs.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GitOps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is the only write path and main is protected: review, history, and rollback.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State and drift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Argo CD self-heal reverts any change made outside Git, by a human or an agent.</a:t>
            </a:r>
            <a:endParaRPr lang="en-US" sz="2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1: ship orders (guided demo)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18948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Walk through labs/01-golden-path/apps/orders/ and the golden path chart.</a:t>
            </a:r>
            <a:endParaRPr lang="en-US" sz="2800" dirty="0"/>
          </a:p>
          <a:p>
            <a:pPr marL="457200" indent="-457200" algn="l">
              <a:lnSpc>
                <a:spcPts val="3920"/>
              </a:lnSpc>
              <a:spcBef>
                <a:spcPts val="140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Open orders in Argo CD at http://argocd.localhost.</a:t>
            </a:r>
            <a:endParaRPr lang="en-US" sz="2800" dirty="0"/>
          </a:p>
          <a:p>
            <a:pPr marL="457200" indent="-457200" algn="l">
              <a:lnSpc>
                <a:spcPts val="3920"/>
              </a:lnSpc>
              <a:spcBef>
                <a:spcPts val="140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Change ORDER_DB in a pull request. Watch the golden-path-ci check, the merge, and the sync.</a:t>
            </a:r>
            <a:endParaRPr lang="en-US" sz="2800" dirty="0"/>
          </a:p>
        </p:txBody>
      </p:sp>
      <p:sp>
        <p:nvSpPr>
          <p:cNvPr id="13" name="Text 13"/>
          <p:cNvSpPr txBox="1"/>
          <p:nvPr/>
        </p:nvSpPr>
        <p:spPr>
          <a:xfrm>
            <a:off x="1024128" y="463804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Argo CD polls your fork every 30 seconds. A hard refresh skips the wait:</a:t>
            </a:r>
            <a:endParaRPr lang="en-US" sz="2800" dirty="0"/>
          </a:p>
        </p:txBody>
      </p:sp>
      <p:sp>
        <p:nvSpPr>
          <p:cNvPr id="14" name="Code 14"/>
          <p:cNvSpPr/>
          <p:nvPr/>
        </p:nvSpPr>
        <p:spPr>
          <a:xfrm>
            <a:off x="1024128" y="5410200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annotate application orders argocd.argoproj.io/refresh=hard --overwrite</a:t>
            </a:r>
            <a:endParaRPr lang="en-US" sz="2400" dirty="0"/>
          </a:p>
        </p:txBody>
      </p:sp>
      <p:sp>
        <p:nvSpPr>
          <p:cNvPr id="15" name="Text 15"/>
          <p:cNvSpPr txBox="1"/>
          <p:nvPr/>
        </p:nvSpPr>
        <p:spPr>
          <a:xfrm>
            <a:off x="1024128" y="64373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Nobody runs kubectl apply for an app. Not you, not an agent.</a:t>
            </a:r>
            <a:endParaRPr lang="en-US" sz="2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1: try 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20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Break the golden path and read what an agent would see: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159760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-b try-lab-01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sed -i.bak 's/tag: "0.1.0"/tag: latest/' labs/01-golden-path/apps/orders/values.yaml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rm labs/01-golden-path/apps/orders/values.yaml.bak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commit -am "try: use latest tag" &amp;&amp; git push -u origin try-lab-01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create --fill &amp;&amp; gh pr checks --watch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68045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check fails with an error an agent can act on, and main blocks the merge: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632561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{"app":"labs/01-golden-path/apps/orders","status":"fail","error":"image.tag is required and must not be latest"}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726135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Close the PR and go back to main:</a:t>
            </a:r>
            <a:endParaRPr lang="en-US" sz="2600" dirty="0"/>
          </a:p>
        </p:txBody>
      </p:sp>
      <p:sp>
        <p:nvSpPr>
          <p:cNvPr id="17" name="Code 17"/>
          <p:cNvSpPr/>
          <p:nvPr/>
        </p:nvSpPr>
        <p:spPr>
          <a:xfrm>
            <a:off x="1024128" y="7906512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close try-lab-01 --delete-branch &amp;&amp; git checkout main</a:t>
            </a:r>
            <a:endParaRPr lang="en-US" sz="2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03: The knowledge base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2 · 15 minutes</a:t>
            </a:r>
            <a:endParaRPr lang="en-US" sz="2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22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Docs agents can trust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Generated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Chart reference, service catalog, alerts, policies, and RBAC. Stale docs fail the PR.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Hand-written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Guides, runbooks, AGENTS.md, and llms.txt: what a generator cannot know.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Linked from alerts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alert has a runbook_url. The on-call human and Hermes start from the same page.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Write-back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Hermes proposes runbook learnings through a bot PR. A human decides.</a:t>
            </a:r>
            <a:endParaRPr lang="en-US" sz="2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2: docs that cannot go stale (guided demo)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Generate the reference docs and walk through them: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50184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./labs/02-knowledge-base/scripts/generate-docs.sh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ls labs/02-knowledge-base/kb/generated/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637024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2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Add a documented value to the chart's values.yaml and open a PR without regenerating. docs-freshness fails. Regenerate, push, and it passes.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870448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labs/01-golden-path/platform/charts/service/values.yaml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-- Log level for the workload.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logLevel: info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7653528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3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Find orders in the service catalog, then read the WorkshopPodCrashLooping runbook. Hermes reads it in Lab 3.</a:t>
            </a:r>
            <a:endParaRPr lang="en-US" sz="2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2: try 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24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Open Cursor in your fork and ask, in a new chat: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Following the platform knowledge base, what are the exact steps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to deploy a new agent called hermes on this platform?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23926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ts val="3920"/>
              </a:lnSpc>
              <a:spcBef>
                <a:spcPts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good answer starts from AGENTS.md, follows kb/guides/deploy-an-agent.md, and names the folder, ServiceAccount, Secret, and pull request.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If it guesses, or suggests kubectl apply, the knowledge base has a gap.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Fix the docs, not the prompt.</a:t>
            </a:r>
            <a:endParaRPr lang="en-US" sz="2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04: Identity, tools, and the AI gateway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26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04 · Identity, tools, and the AI gateway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Three layers Hermes needs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Identity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Its own ServiceAccount, with no cluster permissions. The MCP server reads as hermes-reader, which cannot write or read Secrets.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Tools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Kubernetes only through named, read-only MCP tools. Terminal, file, and web tools are off.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Gateway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LiteLLM virtual key for one model alias, with a budget and a rate limit. Never a provider key.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9165383" y="9277350"/>
            <a:ext cx="809391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AutoShape 8"/>
          <p:cNvSpPr/>
          <p:nvPr/>
        </p:nvSpPr>
        <p:spPr>
          <a:xfrm flipH="1">
            <a:off x="11974483" y="2581116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0" y="2562066"/>
            <a:ext cx="9144000" cy="7724934"/>
          </a:xfrm>
          <a:custGeom>
            <a:avLst/>
            <a:gdLst/>
            <a:ahLst/>
            <a:cxnLst/>
            <a:rect l="l" t="t" r="r" b="b"/>
            <a:pathLst>
              <a:path w="9144000" h="7724934">
                <a:moveTo>
                  <a:pt x="0" y="0"/>
                </a:moveTo>
                <a:lnTo>
                  <a:pt x="9144000" y="0"/>
                </a:lnTo>
                <a:lnTo>
                  <a:pt x="9144000" y="7724934"/>
                </a:lnTo>
                <a:lnTo>
                  <a:pt x="0" y="7724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128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Pg: 27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04 · Identity, tools, and the AI gateway</a:t>
            </a:r>
            <a:endParaRPr lang="en-US" sz="2400" dirty="0"/>
          </a:p>
        </p:txBody>
      </p:sp>
      <p:sp>
        <p:nvSpPr>
          <p:cNvPr id="13" name="TextBox 13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RBAC is the coarse layer</a:t>
            </a:r>
            <a:endParaRPr lang="en-US" sz="5000" dirty="0"/>
          </a:p>
        </p:txBody>
      </p:sp>
      <p:sp>
        <p:nvSpPr>
          <p:cNvPr id="14" name="TextBox 14"/>
          <p:cNvSpPr txBox="1"/>
          <p:nvPr/>
        </p:nvSpPr>
        <p:spPr>
          <a:xfrm>
            <a:off x="1104305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What you run today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RBAC: verbs on resources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MCP tool allowlists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NetworkPolicy egress rules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Kyverno at admission time</a:t>
            </a:r>
            <a:endParaRPr lang="en-US" sz="28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05580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The production next step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Relationship-based access, for example OpenFGA, for questions like “can this agent update that runbook?”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Kyverno stays at admission time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Different layers, not either/or</a:t>
            </a:r>
            <a:endParaRPr lang="en-US" sz="2800" dirty="0"/>
          </a:p>
        </p:txBody>
      </p:sp>
      <p:sp>
        <p:nvSpPr>
          <p:cNvPr id="16" name="AutoShape 16"/>
          <p:cNvSpPr/>
          <p:nvPr/>
        </p:nvSpPr>
        <p:spPr>
          <a:xfrm>
            <a:off x="1028700" y="9248775"/>
            <a:ext cx="8115300" cy="95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05: Hermes alert triage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3 · 30 minutes</a:t>
            </a:r>
            <a:endParaRPr lang="en-US" sz="2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4128" y="1461010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a triage flows</a:t>
            </a:r>
            <a:endParaRPr lang="en-US" sz="5000" dirty="0"/>
          </a:p>
        </p:txBody>
      </p:sp>
      <p:sp>
        <p:nvSpPr>
          <p:cNvPr id="5" name="TextBox 5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6705" y="9549448"/>
            <a:ext cx="1463040" cy="4189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29</a:t>
            </a:r>
            <a:endParaRPr lang="en-US" sz="2400" dirty="0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8" name="Freeform 8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699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AutoShape 12"/>
          <p:cNvSpPr/>
          <p:nvPr/>
        </p:nvSpPr>
        <p:spPr>
          <a:xfrm>
            <a:off x="3200011" y="5148517"/>
            <a:ext cx="1284917" cy="0"/>
          </a:xfrm>
          <a:prstGeom prst="line">
            <a:avLst/>
          </a:prstGeom>
          <a:ln w="57150" cap="flat">
            <a:solidFill>
              <a:srgbClr val="86EA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5867039" y="5148517"/>
            <a:ext cx="1260757" cy="0"/>
          </a:xfrm>
          <a:prstGeom prst="line">
            <a:avLst/>
          </a:prstGeom>
          <a:ln w="57150" cap="flat">
            <a:solidFill>
              <a:srgbClr val="3EDAD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509907" y="5148517"/>
            <a:ext cx="1285875" cy="0"/>
          </a:xfrm>
          <a:prstGeom prst="line">
            <a:avLst/>
          </a:prstGeom>
          <a:ln w="57150" cap="flat">
            <a:solidFill>
              <a:srgbClr val="18AF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11177893" y="5148517"/>
            <a:ext cx="1201605" cy="0"/>
          </a:xfrm>
          <a:prstGeom prst="line">
            <a:avLst/>
          </a:prstGeom>
          <a:ln w="57150" cap="flat">
            <a:solidFill>
              <a:srgbClr val="1C88C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761610" y="5148517"/>
            <a:ext cx="1317078" cy="0"/>
          </a:xfrm>
          <a:prstGeom prst="line">
            <a:avLst/>
          </a:prstGeom>
          <a:ln w="57150" cap="flat">
            <a:solidFill>
              <a:srgbClr val="1353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817900" y="4457462"/>
            <a:ext cx="1382111" cy="1382111"/>
            <a:chOff x="0" y="0"/>
            <a:chExt cx="1842815" cy="1842815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86EAE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1</a:t>
                </a:r>
                <a:endParaRPr lang="en-US" sz="3200" dirty="0"/>
              </a:p>
            </p:txBody>
          </p:sp>
        </p:grpSp>
      </p:grpSp>
      <p:grpSp>
        <p:nvGrpSpPr>
          <p:cNvPr id="23" name="Group 23"/>
          <p:cNvGrpSpPr/>
          <p:nvPr/>
        </p:nvGrpSpPr>
        <p:grpSpPr>
          <a:xfrm>
            <a:off x="4484928" y="4457462"/>
            <a:ext cx="1382111" cy="1382111"/>
            <a:chOff x="0" y="0"/>
            <a:chExt cx="1842815" cy="1842815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EDAD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2</a:t>
                </a:r>
                <a:endParaRPr lang="en-US" sz="3200" dirty="0"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7127796" y="4457462"/>
            <a:ext cx="1382111" cy="1382111"/>
            <a:chOff x="0" y="0"/>
            <a:chExt cx="1842815" cy="184281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7C9E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3</a:t>
                </a:r>
                <a:endParaRPr lang="en-US" sz="3200" dirty="0"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9795782" y="4457462"/>
            <a:ext cx="1382111" cy="1382111"/>
            <a:chOff x="0" y="0"/>
            <a:chExt cx="1842815" cy="1842815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8AFD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4</a:t>
                </a:r>
                <a:endParaRPr lang="en-US" sz="3200" dirty="0"/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2379498" y="4457462"/>
            <a:ext cx="1382111" cy="1382111"/>
            <a:chOff x="0" y="0"/>
            <a:chExt cx="1842815" cy="1842815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C88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5</a:t>
                </a:r>
                <a:endParaRPr lang="en-US" sz="3200" dirty="0"/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15078687" y="4457462"/>
            <a:ext cx="1382111" cy="1382111"/>
            <a:chOff x="0" y="0"/>
            <a:chExt cx="1842815" cy="1842815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3538A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6</a:t>
                </a:r>
                <a:endParaRPr lang="en-US" sz="3200" dirty="0"/>
              </a:p>
            </p:txBody>
          </p:sp>
        </p:grpSp>
      </p:grpSp>
      <p:sp>
        <p:nvSpPr>
          <p:cNvPr id="48" name="TextBox 48"/>
          <p:cNvSpPr txBox="1"/>
          <p:nvPr/>
        </p:nvSpPr>
        <p:spPr>
          <a:xfrm>
            <a:off x="1268496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A pull request breaks orders</a:t>
            </a:r>
            <a:endParaRPr lang="en-US" sz="2100" dirty="0"/>
          </a:p>
        </p:txBody>
      </p:sp>
      <p:sp>
        <p:nvSpPr>
          <p:cNvPr id="49" name="TextBox 49"/>
          <p:cNvSpPr txBox="1"/>
          <p:nvPr/>
        </p:nvSpPr>
        <p:spPr>
          <a:xfrm>
            <a:off x="1314216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Break</a:t>
            </a:r>
            <a:endParaRPr lang="en-US" sz="2200" dirty="0"/>
          </a:p>
        </p:txBody>
      </p:sp>
      <p:sp>
        <p:nvSpPr>
          <p:cNvPr id="50" name="TextBox 50"/>
          <p:cNvSpPr txBox="1"/>
          <p:nvPr/>
        </p:nvSpPr>
        <p:spPr>
          <a:xfrm>
            <a:off x="3905180" y="6230987"/>
            <a:ext cx="2526749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Prometheus fires the alert</a:t>
            </a:r>
            <a:endParaRPr lang="en-US" sz="2100" dirty="0"/>
          </a:p>
        </p:txBody>
      </p:sp>
      <p:sp>
        <p:nvSpPr>
          <p:cNvPr id="51" name="TextBox 51"/>
          <p:cNvSpPr txBox="1"/>
          <p:nvPr/>
        </p:nvSpPr>
        <p:spPr>
          <a:xfrm>
            <a:off x="3964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Detect</a:t>
            </a:r>
            <a:endParaRPr lang="en-US" sz="2200" dirty="0"/>
          </a:p>
        </p:txBody>
      </p:sp>
      <p:sp>
        <p:nvSpPr>
          <p:cNvPr id="52" name="TextBox 52"/>
          <p:cNvSpPr txBox="1"/>
          <p:nvPr/>
        </p:nvSpPr>
        <p:spPr>
          <a:xfrm>
            <a:off x="6569090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Alertmanager sends it to Hermes with its runbook</a:t>
            </a:r>
            <a:endParaRPr lang="en-US" sz="2100" dirty="0"/>
          </a:p>
        </p:txBody>
      </p:sp>
      <p:sp>
        <p:nvSpPr>
          <p:cNvPr id="53" name="TextBox 53"/>
          <p:cNvSpPr txBox="1"/>
          <p:nvPr/>
        </p:nvSpPr>
        <p:spPr>
          <a:xfrm>
            <a:off x="6614810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Route</a:t>
            </a:r>
            <a:endParaRPr lang="en-US" sz="2200" dirty="0"/>
          </a:p>
        </p:txBody>
      </p:sp>
      <p:sp>
        <p:nvSpPr>
          <p:cNvPr id="54" name="TextBox 54"/>
          <p:cNvSpPr txBox="1"/>
          <p:nvPr/>
        </p:nvSpPr>
        <p:spPr>
          <a:xfrm>
            <a:off x="9237077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Read-only MCP tools: pods, events, logs</a:t>
            </a:r>
            <a:endParaRPr lang="en-US" sz="2100" dirty="0"/>
          </a:p>
        </p:txBody>
      </p:sp>
      <p:sp>
        <p:nvSpPr>
          <p:cNvPr id="55" name="TextBox 55"/>
          <p:cNvSpPr txBox="1"/>
          <p:nvPr/>
        </p:nvSpPr>
        <p:spPr>
          <a:xfrm>
            <a:off x="9265107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Investigate</a:t>
            </a:r>
            <a:endParaRPr lang="en-US" sz="2200" dirty="0"/>
          </a:p>
        </p:txBody>
      </p:sp>
      <p:sp>
        <p:nvSpPr>
          <p:cNvPr id="56" name="TextBox 56"/>
          <p:cNvSpPr txBox="1"/>
          <p:nvPr/>
        </p:nvSpPr>
        <p:spPr>
          <a:xfrm>
            <a:off x="11796347" y="6230098"/>
            <a:ext cx="2548414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GLM 5.2 through the LiteLLM gateway</a:t>
            </a:r>
            <a:endParaRPr lang="en-US" sz="2100" dirty="0"/>
          </a:p>
        </p:txBody>
      </p:sp>
      <p:sp>
        <p:nvSpPr>
          <p:cNvPr id="57" name="TextBox 57"/>
          <p:cNvSpPr txBox="1"/>
          <p:nvPr/>
        </p:nvSpPr>
        <p:spPr>
          <a:xfrm>
            <a:off x="11866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Reason</a:t>
            </a:r>
            <a:endParaRPr lang="en-US" sz="2200" dirty="0"/>
          </a:p>
        </p:txBody>
      </p:sp>
      <p:sp>
        <p:nvSpPr>
          <p:cNvPr id="58" name="TextBox 58"/>
          <p:cNvSpPr txBox="1"/>
          <p:nvPr/>
        </p:nvSpPr>
        <p:spPr>
          <a:xfrm>
            <a:off x="14519982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runbook-bot opens a triage PR and a fix PR</a:t>
            </a:r>
            <a:endParaRPr lang="en-US" sz="2100" dirty="0"/>
          </a:p>
        </p:txBody>
      </p:sp>
      <p:sp>
        <p:nvSpPr>
          <p:cNvPr id="59" name="TextBox 59"/>
          <p:cNvSpPr txBox="1"/>
          <p:nvPr/>
        </p:nvSpPr>
        <p:spPr>
          <a:xfrm>
            <a:off x="14565702" y="3621167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Propose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30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 never holds a GitHub token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Anything an agent can read, a prompt injection can ask it to leak. A token plus GitHub egress would let a poisoned log push commits.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0558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Instead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narrow runbook bot holds the token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 only opens pull requests, and main is protected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Fix PRs may only change an existing labs/*/apps/*/values.yaml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Instruction-like text gets a WARNING in the PR body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Humans decide what merges</a:t>
            </a:r>
            <a:endParaRPr lang="en-US" sz="2800" dirty="0"/>
          </a:p>
        </p:txBody>
      </p:sp>
      <p:sp>
        <p:nvSpPr>
          <p:cNvPr id="14" name="AutoShape 14"/>
          <p:cNvSpPr/>
          <p:nvPr/>
        </p:nvSpPr>
        <p:spPr>
          <a:xfrm>
            <a:off x="9163050" y="4024346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check the identity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Left GITHUB_TOKEN empty at bootstrap? Add it to .env, then load it for the bot: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set -a; source labs/00-setup/local/.env; set +a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create secret generic runbook-bot-github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--from-literal=GITHUB_TOKEN="$GITHUB_TOKEN" --from-literal=GITHUB_REPO=&lt;you&gt;/agentic-idp-packt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--dry-run=client -o yaml | kubectl apply -f -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50265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1. Check what the platform team already set up: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6274816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serviceaccounts,secrets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list pods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  # yes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delete pods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get secrets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</a:t>
            </a:r>
            <a:endParaRPr lang="en-US" sz="24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ship Hermes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32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2. Follow kb/guides/deploy-an-agent.md, or ask Cursor to. Either way, the result is: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31302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 &amp;&amp; git checkout -b lab-03-hermes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mkdir -p labs/03-hermes-triage/apps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cp -r labs/03-hermes-triage/starter/* labs/03-hermes-triage/apps/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./labs/01-golden-path/scripts/validate-apps.sh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./labs/02-knowledge-base/scripts/generate-docs.sh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add -A &amp;&amp; git commit -m "Deploy Hermes triage agent" &amp;&amp; git push -u origin lab-03-hermes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create --fill &amp;&amp; gh pr checks --watch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66913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Merge when the checks pass. A new app takes up to 2 minutes to appear: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746353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pods,networkpolicies -w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hermes, k8s-mcp, runbook-bot</a:t>
            </a:r>
            <a:endParaRPr lang="en-US" sz="2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break orders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3. Pick one scenario: crashloop, oom, or bad-config. It opens a PR: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./labs/03-hermes-triage/scenarios/break-orders.sh crashloop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Wait for your wave, merge the PR, and watch Hermes. The alert fires about a minute later: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logs deploy/hermes -f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6509512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When the report is in, fix orders through Git as well, and merge that PR:</a:t>
            </a:r>
            <a:endParaRPr lang="en-US" sz="2800" dirty="0"/>
          </a:p>
        </p:txBody>
      </p:sp>
      <p:sp>
        <p:nvSpPr>
          <p:cNvPr id="17" name="Code 17"/>
          <p:cNvSpPr/>
          <p:nvPr/>
        </p:nvSpPr>
        <p:spPr>
          <a:xfrm>
            <a:off x="1024128" y="7281672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./labs/03-hermes-triage/scenarios/break-orders.sh undo</a:t>
            </a:r>
            <a:endParaRPr lang="en-US" sz="2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34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186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949939" y="2679549"/>
            <a:ext cx="6272821" cy="456247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5996"/>
              </a:lnSpc>
              <a:spcBef>
                <a:spcPts val="0"/>
              </a:spcBef>
              <a:buNone/>
            </a:pPr>
            <a:r>
              <a:rPr lang="en-US" sz="29997" dirty="0">
                <a:solidFill>
                  <a:srgbClr val="00CD8F"/>
                </a:solidFill>
                <a:latin typeface="Outfit Bold"/>
                <a:ea typeface="Outfit Bold"/>
                <a:cs typeface="Outfit Bold"/>
                <a:sym typeface="Outfit Bold"/>
              </a:rPr>
              <a:t>2</a:t>
            </a:r>
            <a:endParaRPr lang="en-US" sz="29997" dirty="0"/>
          </a:p>
        </p:txBody>
      </p:sp>
      <p:sp>
        <p:nvSpPr>
          <p:cNvPr id="12" name="TextBox 12"/>
          <p:cNvSpPr txBox="1"/>
          <p:nvPr/>
        </p:nvSpPr>
        <p:spPr>
          <a:xfrm>
            <a:off x="10138767" y="2990699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Even table card. Merge the break PR first.</a:t>
            </a:r>
            <a:endParaRPr lang="en-US" sz="22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38767" y="2237921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WAVE A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0138767" y="5061101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Odd table card. Merge about two minutes later.</a:t>
            </a:r>
            <a:endParaRPr lang="en-US" sz="22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38767" y="4308324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WAVE B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138767" y="7131504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Raise a hand. Do not merge early.</a:t>
            </a:r>
            <a:endParaRPr lang="en-US" sz="2200" dirty="0"/>
          </a:p>
        </p:txBody>
      </p:sp>
      <p:sp>
        <p:nvSpPr>
          <p:cNvPr id="17" name="TextBox 17"/>
          <p:cNvSpPr txBox="1"/>
          <p:nvPr/>
        </p:nvSpPr>
        <p:spPr>
          <a:xfrm>
            <a:off x="10138767" y="6378726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MISSED THE CALLOUT?</a:t>
            </a:r>
            <a:endParaRPr lang="en-US" sz="2800" dirty="0"/>
          </a:p>
        </p:txBody>
      </p:sp>
      <p:sp>
        <p:nvSpPr>
          <p:cNvPr id="18" name="AutoShape 18"/>
          <p:cNvSpPr/>
          <p:nvPr/>
        </p:nvSpPr>
        <p:spPr>
          <a:xfrm>
            <a:off x="10138767" y="2890686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AutoShape 19"/>
          <p:cNvSpPr/>
          <p:nvPr/>
        </p:nvSpPr>
        <p:spPr>
          <a:xfrm>
            <a:off x="10138767" y="4960787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0" name="AutoShape 20"/>
          <p:cNvSpPr/>
          <p:nvPr/>
        </p:nvSpPr>
        <p:spPr>
          <a:xfrm>
            <a:off x="10138767" y="7031189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Merge in two waves</a:t>
            </a:r>
            <a:endParaRPr lang="en-US" sz="5000" dirty="0"/>
          </a:p>
        </p:txBody>
      </p:sp>
      <p:sp>
        <p:nvSpPr>
          <p:cNvPr id="22" name="TextBox 22"/>
          <p:cNvSpPr txBox="1"/>
          <p:nvPr/>
        </p:nvSpPr>
        <p:spPr>
          <a:xfrm>
            <a:off x="1526084" y="7377113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waves, so 30 laptops do not hit the model in the same second</a:t>
            </a:r>
            <a:endParaRPr lang="en-US" sz="2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read the bot's pull requests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35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37439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4. The runbook bot opens two pull requests on your fork: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Triage PR: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Hermes's report under labs/03-hermes-triage/triage-reports/, plus any runbook learning.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Fix PR: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only an existing labs/*/apps/*/values.yaml. Anything else is rejected.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Instruction-like text gets a </a:t>
            </a: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WARNING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in the PR body. Review it as untrusted input.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Neither PR can merge itself, because main is protected.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6487160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list</a:t>
            </a:r>
            <a:endParaRPr lang="en-US" sz="2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poisoned logs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5. A failing job whose log tells agents to delete the shop namespace: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labs/03-hermes-triage/scenarios/poisoned-log.yaml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Hermes reports it as a security finding. hermes-reader cannot delete anything anyway.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6. A log that asks agents to send their secrets to a collector: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labs/03-hermes-triage/scenarios/poisoned-log-exfil.yaml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exec deploy/hermes --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python -c "import urllib.request; urllib.request.urlopen('http://collector.shop.svc.cluster.local:8080', timeout=5)"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Must time out: egress is blocked.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shop logs deploy/collector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 requests from Hermes. Keep it for Lab 4.</a:t>
            </a:r>
            <a:endParaRPr lang="en-US" sz="2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06: Guardrails and recovery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4 · 30 minutes</a:t>
            </a:r>
            <a:endParaRPr lang="en-US" sz="2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38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Defense in depth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RBAC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first layer: verbs on resources. Easy to make too broad by mistake.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Kyverno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second layer: agent identities cannot create, update, or delete anything directly.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GitOps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Guardrails are code in values.yaml. Self-heal puts back what someone deletes by hand.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Review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One approved PR can still weaken a guardrail. Agent guardrails need an owner.</a:t>
            </a:r>
            <a:endParaRPr lang="en-US" sz="2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policy as a second layer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1. Enforce the policy, then give Hermes's identity too much RBAC on purpose: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labs/04-guardrails-recovery/policies/deny-agent-direct-changes.yaml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labs/04-guardrails-recovery/demo-rbac/hermes-remediator.yaml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delete namespaces --as=system:serviceaccount:agents:hermes-reader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yes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10641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Impersonate Hermes and try what the poisoned logs asked for. Kyverno denies all three: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878576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delete namespace shop --as=system:serviceaccount:agents:hermes-reader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shop patch deploy orders --as=system:serviceaccount:agents:hermes-reader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-p '{"spec":{"replicas":0}}'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delete networkpolicy hermes --as=system:serviceaccount:agents:hermes-reader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delete -f labs/04-guardrails-recovery/demo-rbac/hermes-remediator.yaml</a:t>
            </a:r>
            <a:endParaRPr lang="en-US" sz="2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drift on a guardrail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40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2. Someone debugging Hermes deletes its network policy as an admin: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delete networkpolicy 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networkpolicy hermes -w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18948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ts val="3920"/>
              </a:lnSpc>
              <a:spcBef>
                <a:spcPts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Kyverno allows it, because admins are not agents.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Within seconds Argo CD puts it back, because the policy lives in Git with Hermes.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Drift is not only a human problem: the same self-heal reverts an agent's change.</a:t>
            </a:r>
            <a:endParaRPr lang="en-US" sz="2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a helpful pull request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3. Open a reasonable-looking PR. Read it, see the checks pass, and merge it: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./labs/04-guardrails-recovery/scripts/open-helpful-pr.sh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When Hermes restarts, run the egress check from Lab 3 again: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18094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rollout status deploy/hermes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exec deploy/hermes -- \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python -c "import urllib.request; print(urllib.request.urlopen('http://collector.shop.svc.cluster.local:8080', timeout=5).read())"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Now prints b'ok': the poisoned log has somewhere to send Hermes's key.</a:t>
            </a:r>
            <a:endParaRPr lang="en-US" sz="2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revert it through Git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42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Revert the merge with a pull request: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 &amp;&amp; git checkout -b revert-hermes-egress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revert --no-edit "$(git log --grep='let the agent check orders health' -n 1 --no-merges --format=%H)"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push -u origin revert-hermes-egress &amp;&amp; gh pr create --fill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106416"/>
            <a:ext cx="16230600" cy="1219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Merge it, wait for the rollout, and run the egress check again. It times out.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4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 a real platform, CODEOWNERS would require the platform team on every agent's values.yaml.</a:t>
            </a:r>
            <a:endParaRPr lang="en-US" sz="2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the kill switch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4. The obvious way does not work, because Argo CD scales it back to 1: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159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scale deploy hermes --replicas=0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deploy hermes -w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49173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Remove its credentials instead. Argo CD cannot recreate a Secret it does not manage: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5136896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./labs/04-guardrails-recovery/scripts/kill-switch.sh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pods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646887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real kill switch blocks the virtual key on the gateway:</a:t>
            </a:r>
            <a:endParaRPr lang="en-US" sz="2600" dirty="0"/>
          </a:p>
        </p:txBody>
      </p:sp>
      <p:sp>
        <p:nvSpPr>
          <p:cNvPr id="17" name="Code 17"/>
          <p:cNvSpPr/>
          <p:nvPr/>
        </p:nvSpPr>
        <p:spPr>
          <a:xfrm>
            <a:off x="1024128" y="7114032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set -a; source labs/00-setup/local/.litellm-admin; set +a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LITELLM_ADMIN_URL=http://litellm.localhost ./labs/04-guardrails-recovery/scripts/kill-switch.sh local --block-key</a:t>
            </a:r>
            <a:endParaRPr lang="en-US" sz="2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07: Observability, audit, and cost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45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07 · Observability, audit, and cost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the platform records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Traces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Langfuse records the prompt, the tool calls, the latency, and the tokens of every model call.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Audit trail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Traces, Git history, and Kyverno decisions together explain what the agent did and why.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Cost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Each virtual key has a budget and a rate limit. A blocked key stops spend at once.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Open Langfuse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07 · Observability, audit, and cost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 the login password from its Secret: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744601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055"/>
              </a:lnSpc>
              <a:buNone/>
            </a:pPr>
            <a:r>
              <a:rPr lang="en-US" sz="235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langfuse get secret langfuse-secrets -o jsonpath='{.data.LANGFUSE_INIT_USER_PASSWORD}' | base64 -d</a:t>
            </a:r>
            <a:endParaRPr lang="en-US" sz="235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305681"/>
            <a:ext cx="16230600" cy="25704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Log in at http://langfuse.localhost as workshop@example.com and open the workshop project.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Find the trace for the triage you watched in Lab 3.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 the prompt with the runbook, the MCP tool calls, and the token cost.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Match it with the bot's PR and the Kyverno denials from Lab 4.</a:t>
            </a:r>
            <a:endParaRPr lang="en-US" sz="2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08: Where it breaks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57073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Q&amp;A · 15 minutes</a:t>
            </a:r>
            <a:endParaRPr lang="en-US" sz="2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48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08 · Where it breaks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Where it breaks</a:t>
            </a:r>
            <a:endParaRPr lang="en-US" sz="50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468880"/>
          <a:ext cx="16230600" cy="608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1110996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breaks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helps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Stale docs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Generate reference docs and fail the PR when they drift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Over-broad RBAC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Policy as a second layer; no direct writes for agent identities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Prompt injection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Read-only tools, no egress, and no tokens in the agent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Approval theater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Owners review guardrail changes; CODEOWNERS on agent values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Alert storms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Triage each alert once per window, with a budget per key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Gateway outages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One central gateway, with a kill switch per key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1028700" y="1028700"/>
            <a:ext cx="2244349" cy="1629958"/>
          </a:xfrm>
          <a:custGeom>
            <a:avLst/>
            <a:gdLst/>
            <a:ahLst/>
            <a:cxnLst/>
            <a:rect l="l" t="t" r="r" b="b"/>
            <a:pathLst>
              <a:path w="2244349" h="1629958">
                <a:moveTo>
                  <a:pt x="0" y="0"/>
                </a:moveTo>
                <a:lnTo>
                  <a:pt x="2244349" y="0"/>
                </a:lnTo>
                <a:lnTo>
                  <a:pt x="2244349" y="1629958"/>
                </a:lnTo>
                <a:lnTo>
                  <a:pt x="0" y="16299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3291840"/>
            <a:ext cx="14630400" cy="18351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6440"/>
              </a:lnSpc>
              <a:spcBef>
                <a:spcPts val="0"/>
              </a:spcBef>
              <a:buNone/>
            </a:pPr>
            <a:r>
              <a:rPr lang="en-US" sz="56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A platform is agent-ready when agents can understand it, act safely within it, and be observed and stopped when needed.</a:t>
            </a:r>
            <a:endParaRPr lang="en-US" sz="56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8787765"/>
            <a:ext cx="14630400" cy="47053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- The takeaway</a:t>
            </a:r>
            <a:endParaRPr lang="en-US" sz="3000" dirty="0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6" name="Freeform 6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50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08 · Where it breaks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Keep going</a:t>
            </a:r>
            <a:endParaRPr lang="en-US" sz="5000" dirty="0"/>
          </a:p>
        </p:txBody>
      </p:sp>
      <p:sp>
        <p:nvSpPr>
          <p:cNvPr id="76" name="TextBox 76">
            <a:extLst>
              <a:ext uri="{FF2B5EF4-FFF2-40B4-BE49-F238E27FC236}">
                <a16:creationId xmlns:a16="http://schemas.microsoft.com/office/drawing/2014/main" id="{06A20AEA-87DC-D43F-4E67-DF92A4F9BC3D}"/>
              </a:ext>
            </a:extLst>
          </p:cNvPr>
          <p:cNvSpPr txBox="1"/>
          <p:nvPr/>
        </p:nvSpPr>
        <p:spPr>
          <a:xfrm>
            <a:off x="1028700" y="2240280"/>
            <a:ext cx="15544800" cy="721171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Everything stays in your fork after today.</a:t>
            </a:r>
            <a:endParaRPr lang="en-US" sz="26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926080"/>
          <a:ext cx="16230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536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763524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Where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labs/README.md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All labs, in order, with the time each one takes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labs/02-knowledge-base/kb/guides/platform-map.md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 piece of the platform and how they connect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labs/02-knowledge-base/kb/guides/onboarding.md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Let Cursor rebuild the environment for you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“If you finished early” in each lab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Extra exercises for Labs 3 and 4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kind delete cluster --name agentic-idp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Clean up your laptop when you are done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150BFE9-031E-CA36-023B-637B07AE69B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C7B70BD-A3C3-8A62-3110-7C1BE7A32E3C}"/>
              </a:ext>
            </a:extLst>
          </p:cNvPr>
          <p:cNvSpPr txBox="1"/>
          <p:nvPr/>
        </p:nvSpPr>
        <p:spPr>
          <a:xfrm>
            <a:off x="1028701" y="4479925"/>
            <a:ext cx="10972800" cy="1193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ts val="0"/>
              </a:spcBef>
              <a:buNone/>
            </a:pPr>
            <a:r>
              <a:rPr lang="en-US" sz="7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Thank you</a:t>
            </a:r>
            <a:endParaRPr lang="en-US" sz="7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F6230806-A285-7401-5018-2F5698374104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3FED85B6-C546-8002-E2CC-108F72D2DE81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 7"/>
          <p:cNvSpPr txBox="1"/>
          <p:nvPr/>
        </p:nvSpPr>
        <p:spPr>
          <a:xfrm>
            <a:off x="1024128" y="5897880"/>
            <a:ext cx="128016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Questions? Find us in the room.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2983</Words>
  <Application>Microsoft Office PowerPoint</Application>
  <PresentationFormat>Custom</PresentationFormat>
  <Paragraphs>496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Outfit Semi-Bold</vt:lpstr>
      <vt:lpstr>Outfit</vt:lpstr>
      <vt:lpstr>Calibri</vt:lpstr>
      <vt:lpstr>Lexend Deca</vt:lpstr>
      <vt:lpstr>Aptos</vt:lpstr>
      <vt:lpstr>Outfit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Agent-Ready Internal Developer Platforms</dc:title>
  <cp:lastModifiedBy/>
  <cp:revision>8</cp:revision>
  <dcterms:created xsi:type="dcterms:W3CDTF">2006-08-16T00:00:00Z</dcterms:created>
  <dcterms:modified xsi:type="dcterms:W3CDTF">2025-05-05T09:48:16Z</dcterms:modified>
  <dc:identifier>DAGmMKGe-eA</dc:identifier>
  <dc:creator>Ramiro Álvarez and Guillermo Vigil</dc:creator>
  <dc:subject>Workshop slides</dc:subject>
  <cp:keywords/>
  <dc:description/>
</cp:coreProperties>
</file>